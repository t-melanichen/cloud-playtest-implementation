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Melanie — a software engineering intern on the Xbox Juno team. This summer I worked on Instantly Shareable Playtest: letting a game creator share an unreleased build that a tester can stream from the cloud in seconds, with no download and no install. Here's what it is, what I built, and what shipped.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bit about me. [Fill in your school and background.] I joined Juno, whose whole mission is to lower the barrier for game creators. My project lived almost entirely in the backend, threading a build across about eight services — which meant ramping up fast. Big thanks to my manager Brian and my mentor Emma for the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this start? The xPlaytest team had already made testing easier — a creator can share a retail-signed private build without certification or a store page. But three barriers remained. Modern games are hundreds of gigabytes, so every tester sits through a huge download. Creators have to buy and set up lots of hardware to test compatibility. And physical devices are a security risk — a lost devkit means the unreleased code is right there to inspect. We wanted to remove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 to combine xPlaytest with Xbox Cloud Gaming. The creator just opts in to cloud streaming and shares a link. An invited tester clicks it and — instead of downloading anything — streams the build straight from the cloud, in seconds. It's still a real retail build; it just runs in xCloud instead of on the tester's own hardware. That's the north star.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that link needs a lot to happen. My goals — the P0s from the project doc — were: create a brand-new service-to-service connection between publishing and Xbox Game Streaming Services; on publish, spin up a private streaming offering just for that playtest; make sure only invited testers can see it; ingest every new build and point the offering at it; and hand back a link that actually streams. That's the checklist I was measured against.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flow on one slide. Reading left to right: we resolve who's allowed in (the audience), publish an offering, assemble a payload of everything xCloud needs, send it across an organizational boundary — from the MSFT Green cloud to Corp — through a gateway called SAGE, ingest the build while binding its title and offering together, poll until the servers are ready to stream, and then the share link works. I touched every hop; the next slides zoom into the two I'm proudest of.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headline piece is the payload builder. When a creator publishes, I take a snapshot of that publish and assemble everything Game Streaming Services needs: the store asset details, the allowed audience groups, the sandbox, and a bounded expiration. Then it mints a cross-tenant token and fires the ingestion. Two design choices I care about: it's opt-in, gated to a pilot seller so we could roll it out safely; and it's non-blocking — if streaming ever fails, the normal download publish still succeeds. We never degrade the existing product to add the new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problem was authentication across that org boundary. The caller lives in the MSFT Green tenant and the receiver lives in Corp — two separate trust domains. The Green side mints an older-style token whose audience claim is just a bare GUID, and the receiver kept rejecting it with 'audience null is invalid.' I traced the token through both services to find that mismatch, then fixed the receiver to accept the bare-GUID audience. When that clicked, the request finally authenticated and authorized end to end. It's the kind of bug that's invisible until you understand both sides.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actually shipped? Going down the P0 list: private offering per playtest — done; audience scoping — done; build ingestion on publish — done; seller flighting to limit blast radius — done; and the shareable-stream backend — done. All told that's about 22 merged pull requests across roughly eight services and two organizations. The entire backend spine is merged to main and deployed to production — today a publish by our pilot seller fires the whole cross-cloud call for real. What's left is the two front ends.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growth side — these map to the skills my project set out to build. I got much faster at ramping into unfamiliar codebases, using AI to understand many repos and services quickly. I learned real microservice and systems design in .NET, especially designing each hop to fail safely. I collaborated across the Game Streaming, xPlaytest, and PM teams to get decisions made and code reviewed. And a huge amount of the work was navigating ambiguity — reverse-engineering a flow nobody had fully documented — then handling the edge cases carefully.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ready and waiting for two front ends. On the creator side, Partner Center needs a toggle to enable streaming and surface the share link. On the tester side, the Bayside landing page needs to log the user in before revealing anything, so a playtest never leaks to people who aren't invited. Once those land we can run the full end-to-end flow. Beyond that, the roadmap has Library integration, invite tokens, and console support. I've documented all of it for the next engineer.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especially to my mentor Emma and my manager Brian, to David and Bec on the feature side, and to Anthony, Timi, Ashton, and Chuy, who answered endless questions about services I'd never seen before. And thanks to the whole Juno, xPlaytest, and Game Streaming teams. I'd love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822960" y="658368"/>
            <a:ext cx="2194560"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96112"/>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FINAL SHAREOUT  ·  SUMMER 2026</a:t>
            </a:r>
          </a:p>
        </p:txBody>
      </p:sp>
      <p:sp>
        <p:nvSpPr>
          <p:cNvPr id="4" name="TextBox 3"/>
          <p:cNvSpPr txBox="1"/>
          <p:nvPr/>
        </p:nvSpPr>
        <p:spPr>
          <a:xfrm>
            <a:off x="822960" y="2331720"/>
            <a:ext cx="10545775" cy="1280160"/>
          </a:xfrm>
          <a:prstGeom prst="rect">
            <a:avLst/>
          </a:prstGeom>
          <a:noFill/>
        </p:spPr>
        <p:txBody>
          <a:bodyPr wrap="square" anchor="t" lIns="0" rIns="0" tIns="0" bIns="0">
            <a:spAutoFit/>
          </a:bodyPr>
          <a:lstStyle/>
          <a:p>
            <a:pPr>
              <a:lnSpc>
                <a:spcPct val="100000"/>
              </a:lnSpc>
              <a:spcBef>
                <a:spcPts val="0"/>
              </a:spcBef>
              <a:spcAft>
                <a:spcPts val="0"/>
              </a:spcAft>
            </a:pPr>
            <a:r>
              <a:rPr sz="5200" b="1" i="0">
                <a:solidFill>
                  <a:srgbClr val="FFFFFF"/>
                </a:solidFill>
                <a:latin typeface="Segoe UI Semibold"/>
              </a:rPr>
              <a:t>Instantly Shareable Playtest</a:t>
            </a:r>
          </a:p>
        </p:txBody>
      </p:sp>
      <p:sp>
        <p:nvSpPr>
          <p:cNvPr id="5" name="TextBox 4"/>
          <p:cNvSpPr txBox="1"/>
          <p:nvPr/>
        </p:nvSpPr>
        <p:spPr>
          <a:xfrm>
            <a:off x="822960" y="3429000"/>
            <a:ext cx="9631375" cy="1005840"/>
          </a:xfrm>
          <a:prstGeom prst="rect">
            <a:avLst/>
          </a:prstGeom>
          <a:noFill/>
        </p:spPr>
        <p:txBody>
          <a:bodyPr wrap="square" anchor="t" lIns="0" rIns="0" tIns="0" bIns="0">
            <a:spAutoFit/>
          </a:bodyPr>
          <a:lstStyle/>
          <a:p>
            <a:pPr>
              <a:lnSpc>
                <a:spcPct val="110000"/>
              </a:lnSpc>
              <a:spcBef>
                <a:spcPts val="0"/>
              </a:spcBef>
              <a:spcAft>
                <a:spcPts val="0"/>
              </a:spcAft>
            </a:pPr>
            <a:r>
              <a:rPr sz="2200" b="0" i="0">
                <a:solidFill>
                  <a:srgbClr val="BFBFBF"/>
                </a:solidFill>
                <a:latin typeface="Segoe UI"/>
              </a:rPr>
              <a:t>Streaming pre-release builds from the cloud — in seconds, no install.</a:t>
            </a:r>
          </a:p>
        </p:txBody>
      </p:sp>
      <p:sp>
        <p:nvSpPr>
          <p:cNvPr id="6" name="TextBox 5"/>
          <p:cNvSpPr txBox="1"/>
          <p:nvPr/>
        </p:nvSpPr>
        <p:spPr>
          <a:xfrm>
            <a:off x="822960" y="5029200"/>
            <a:ext cx="10545775" cy="1097280"/>
          </a:xfrm>
          <a:prstGeom prst="rect">
            <a:avLst/>
          </a:prstGeom>
          <a:noFill/>
        </p:spPr>
        <p:txBody>
          <a:bodyPr wrap="square" anchor="t" lIns="0" rIns="0" tIns="0" bIns="0">
            <a:spAutoFit/>
          </a:bodyPr>
          <a:lstStyle/>
          <a:p>
            <a:pPr>
              <a:lnSpc>
                <a:spcPct val="100000"/>
              </a:lnSpc>
              <a:spcBef>
                <a:spcPts val="0"/>
              </a:spcBef>
              <a:spcAft>
                <a:spcPts val="400"/>
              </a:spcAft>
            </a:pPr>
            <a:r>
              <a:rPr sz="2200" b="1" i="0">
                <a:solidFill>
                  <a:srgbClr val="FFFFFF"/>
                </a:solidFill>
                <a:latin typeface="Segoe UI Semibold"/>
              </a:rPr>
              <a:t>Melanie Chen — Software Engineering Intern</a:t>
            </a:r>
          </a:p>
          <a:p>
            <a:pPr>
              <a:lnSpc>
                <a:spcPct val="100000"/>
              </a:lnSpc>
              <a:spcBef>
                <a:spcPts val="0"/>
              </a:spcBef>
              <a:spcAft>
                <a:spcPts val="0"/>
              </a:spcAft>
            </a:pPr>
            <a:r>
              <a:rPr sz="1600" b="0" i="0">
                <a:solidFill>
                  <a:srgbClr val="BFBFBF"/>
                </a:solidFill>
                <a:latin typeface="Segoe UI"/>
              </a:rPr>
              <a:t>Xbox / Juno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ABOUT ME</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About me</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[University · Degree · Expected year]</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Team </a:t>
            </a:r>
            <a:r>
              <a:rPr sz="2000" b="1" i="0">
                <a:solidFill>
                  <a:srgbClr val="FFFFFF"/>
                </a:solidFill>
                <a:latin typeface="Segoe UI"/>
              </a:rPr>
              <a:t>Juno</a:t>
            </a:r>
            <a:r>
              <a:rPr sz="2000" b="0" i="0">
                <a:solidFill>
                  <a:srgbClr val="BFBFBF"/>
                </a:solidFill>
                <a:latin typeface="Segoe UI"/>
              </a:rPr>
              <a:t> (Xbox) — reducing friction for game creators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Manager </a:t>
            </a:r>
            <a:r>
              <a:rPr sz="2000" b="1" i="0">
                <a:solidFill>
                  <a:srgbClr val="FFFFFF"/>
                </a:solidFill>
                <a:latin typeface="Segoe UI"/>
              </a:rPr>
              <a:t>Brian Bowman</a:t>
            </a:r>
            <a:r>
              <a:rPr sz="2000" b="0" i="0">
                <a:solidFill>
                  <a:srgbClr val="BFBFBF"/>
                </a:solidFill>
                <a:latin typeface="Segoe UI"/>
              </a:rPr>
              <a:t>  ·  Mentor </a:t>
            </a:r>
            <a:r>
              <a:rPr sz="2000" b="1" i="0">
                <a:solidFill>
                  <a:srgbClr val="FFFFFF"/>
                </a:solidFill>
                <a:latin typeface="Segoe UI"/>
              </a:rPr>
              <a:t>Emma Park</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My summer: backend across </a:t>
            </a:r>
            <a:r>
              <a:rPr sz="2000" b="1" i="0">
                <a:solidFill>
                  <a:srgbClr val="FFFFFF"/>
                </a:solidFill>
                <a:latin typeface="Segoe UI"/>
              </a:rPr>
              <a:t>~8 services</a:t>
            </a:r>
            <a:r>
              <a:rPr sz="2000" b="0" i="0">
                <a:solidFill>
                  <a:srgbClr val="BFBFBF"/>
                </a:solidFill>
                <a:latin typeface="Segoe UI"/>
              </a:rPr>
              <a:t>, </a:t>
            </a:r>
            <a:r>
              <a:rPr sz="2000" b="1" i="0">
                <a:solidFill>
                  <a:srgbClr val="FFFFFF"/>
                </a:solidFill>
                <a:latin typeface="Segoe UI"/>
              </a:rPr>
              <a:t>two orgs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[One line — an interest or something fun about you]</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THE PROBLEM</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Testing shouldn't mean shipping the whole game</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xPlaytest already shares </a:t>
            </a:r>
            <a:r>
              <a:rPr sz="2100" b="1" i="0">
                <a:solidFill>
                  <a:srgbClr val="52B043"/>
                </a:solidFill>
                <a:latin typeface="Segoe UI"/>
              </a:rPr>
              <a:t>RETAIL-signed private builds</a:t>
            </a:r>
            <a:r>
              <a:rPr sz="2100" b="0" i="0">
                <a:solidFill>
                  <a:srgbClr val="FFFFFF"/>
                </a:solidFill>
                <a:latin typeface="Segoe UI"/>
              </a:rPr>
              <a:t> — no cert, no store page.</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Games are </a:t>
            </a:r>
            <a:r>
              <a:rPr sz="2000" b="1" i="0">
                <a:solidFill>
                  <a:srgbClr val="FFFFFF"/>
                </a:solidFill>
                <a:latin typeface="Segoe UI"/>
              </a:rPr>
              <a:t>hundreds of GB</a:t>
            </a:r>
            <a:r>
              <a:rPr sz="2000" b="0" i="0">
                <a:solidFill>
                  <a:srgbClr val="BFBFBF"/>
                </a:solidFill>
                <a:latin typeface="Segoe UI"/>
              </a:rPr>
              <a:t> — every tester waits on a slow install</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Creators must </a:t>
            </a:r>
            <a:r>
              <a:rPr sz="2000" b="1" i="0">
                <a:solidFill>
                  <a:srgbClr val="FFFFFF"/>
                </a:solidFill>
                <a:latin typeface="Segoe UI"/>
              </a:rPr>
              <a:t>provision many hardware profiles</a:t>
            </a:r>
            <a:r>
              <a:rPr sz="2000" b="0" i="0">
                <a:solidFill>
                  <a:srgbClr val="BFBFBF"/>
                </a:solidFill>
                <a:latin typeface="Segoe UI"/>
              </a:rPr>
              <a:t> for compatibility</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Physical devices </a:t>
            </a:r>
            <a:r>
              <a:rPr sz="2000" b="1" i="0">
                <a:solidFill>
                  <a:srgbClr val="FFFFFF"/>
                </a:solidFill>
                <a:latin typeface="Segoe UI"/>
              </a:rPr>
              <a:t>risk leaking</a:t>
            </a:r>
            <a:r>
              <a:rPr sz="2000" b="0" i="0">
                <a:solidFill>
                  <a:srgbClr val="BFBFBF"/>
                </a:solidFill>
                <a:latin typeface="Segoe UI"/>
              </a:rPr>
              <a:t> locally-inspectable game code</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THE VISION</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Instantly Shareable Playtest</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1" i="0">
                <a:solidFill>
                  <a:srgbClr val="52B043"/>
                </a:solidFill>
                <a:latin typeface="Segoe UI"/>
              </a:rPr>
              <a:t>xPlaytest × Xbox Cloud Gaming</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The creator flips on </a:t>
            </a:r>
            <a:r>
              <a:rPr sz="2000" b="1" i="0">
                <a:solidFill>
                  <a:srgbClr val="FFFFFF"/>
                </a:solidFill>
                <a:latin typeface="Segoe UI"/>
              </a:rPr>
              <a:t>“allow cloud streaming”</a:t>
            </a:r>
            <a:r>
              <a:rPr sz="2000" b="0" i="0">
                <a:solidFill>
                  <a:srgbClr val="BFBFBF"/>
                </a:solidFill>
                <a:latin typeface="Segoe UI"/>
              </a:rPr>
              <a:t> and shares a link</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An invited tester </a:t>
            </a:r>
            <a:r>
              <a:rPr sz="2000" b="1" i="0">
                <a:solidFill>
                  <a:srgbClr val="FFFFFF"/>
                </a:solidFill>
                <a:latin typeface="Segoe UI"/>
              </a:rPr>
              <a:t>streams the private RETAIL build in seconds</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No install. No download. No devkit.</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THE GOAL</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What I was asked to build — connect two clouds</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To make that link work, the backend had to…</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Stand up a new </a:t>
            </a:r>
            <a:r>
              <a:rPr sz="2000" b="1" i="0">
                <a:solidFill>
                  <a:srgbClr val="FFFFFF"/>
                </a:solidFill>
                <a:latin typeface="Segoe UI"/>
              </a:rPr>
              <a:t>service-to-service</a:t>
            </a:r>
            <a:r>
              <a:rPr sz="2000" b="0" i="0">
                <a:solidFill>
                  <a:srgbClr val="BFBFBF"/>
                </a:solidFill>
                <a:latin typeface="Segoe UI"/>
              </a:rPr>
              <a:t> link: publishing ↔ Game Streaming</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Create a </a:t>
            </a:r>
            <a:r>
              <a:rPr sz="2000" b="1" i="0">
                <a:solidFill>
                  <a:srgbClr val="FFFFFF"/>
                </a:solidFill>
                <a:latin typeface="Segoe UI"/>
              </a:rPr>
              <a:t>private streaming offering</a:t>
            </a:r>
            <a:r>
              <a:rPr sz="2000" b="0" i="0">
                <a:solidFill>
                  <a:srgbClr val="BFBFBF"/>
                </a:solidFill>
                <a:latin typeface="Segoe UI"/>
              </a:rPr>
              <a:t> per playtest</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Scope access to </a:t>
            </a:r>
            <a:r>
              <a:rPr sz="2000" b="1" i="0">
                <a:solidFill>
                  <a:srgbClr val="FFFFFF"/>
                </a:solidFill>
                <a:latin typeface="Segoe UI"/>
              </a:rPr>
              <a:t>only invited testers</a:t>
            </a:r>
            <a:r>
              <a:rPr sz="2000" b="0" i="0">
                <a:solidFill>
                  <a:srgbClr val="BFBFBF"/>
                </a:solidFill>
                <a:latin typeface="Segoe UI"/>
              </a:rPr>
              <a:t> (DNA groups)</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Ingest each new build</a:t>
            </a:r>
            <a:r>
              <a:rPr sz="2000" b="0" i="0">
                <a:solidFill>
                  <a:srgbClr val="BFBFBF"/>
                </a:solidFill>
                <a:latin typeface="Segoe UI"/>
              </a:rPr>
              <a:t> and point the offering at it</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Return a </a:t>
            </a:r>
            <a:r>
              <a:rPr sz="2000" b="1" i="0">
                <a:solidFill>
                  <a:srgbClr val="FFFFFF"/>
                </a:solidFill>
                <a:latin typeface="Segoe UI"/>
              </a:rPr>
              <a:t>shareable link</a:t>
            </a:r>
            <a:r>
              <a:rPr sz="2000" b="0" i="0">
                <a:solidFill>
                  <a:srgbClr val="BFBFBF"/>
                </a:solidFill>
                <a:latin typeface="Segoe UI"/>
              </a:rPr>
              <a:t> that streams</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HOW IT WORKS</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The backend spine</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xplaytest_diagram_scaled.png"/>
          <p:cNvPicPr>
            <a:picLocks noChangeAspect="1"/>
          </p:cNvPicPr>
          <p:nvPr/>
        </p:nvPicPr>
        <p:blipFill>
          <a:blip r:embed="rId2"/>
          <a:stretch>
            <a:fillRect/>
          </a:stretch>
        </p:blipFill>
        <p:spPr>
          <a:xfrm>
            <a:off x="3030687" y="1874519"/>
            <a:ext cx="6130321" cy="3931920"/>
          </a:xfrm>
          <a:prstGeom prst="rect">
            <a:avLst/>
          </a:prstGeom>
          <a:ln w="15875">
            <a:solidFill>
              <a:srgbClr val="107C10"/>
            </a:solidFill>
          </a:ln>
        </p:spPr>
      </p:pic>
      <p:sp>
        <p:nvSpPr>
          <p:cNvPr id="6" name="TextBox 5"/>
          <p:cNvSpPr txBox="1"/>
          <p:nvPr/>
        </p:nvSpPr>
        <p:spPr>
          <a:xfrm>
            <a:off x="822960" y="5870448"/>
            <a:ext cx="10545775" cy="457200"/>
          </a:xfrm>
          <a:prstGeom prst="rect">
            <a:avLst/>
          </a:prstGeom>
          <a:noFill/>
        </p:spPr>
        <p:txBody>
          <a:bodyPr wrap="square" anchor="t" lIns="0" rIns="0" tIns="0" bIns="0">
            <a:spAutoFit/>
          </a:bodyPr>
          <a:lstStyle/>
          <a:p>
            <a:pPr algn="ctr">
              <a:lnSpc>
                <a:spcPct val="100000"/>
              </a:lnSpc>
              <a:spcBef>
                <a:spcPts val="0"/>
              </a:spcBef>
              <a:spcAft>
                <a:spcPts val="0"/>
              </a:spcAft>
            </a:pPr>
            <a:r>
              <a:rPr sz="1400" b="0" i="0">
                <a:solidFill>
                  <a:srgbClr val="BFBFBF"/>
                </a:solidFill>
                <a:latin typeface="Segoe UI"/>
              </a:rPr>
              <a:t>audience → offering → payload → </a:t>
            </a:r>
            <a:r>
              <a:rPr sz="1400" b="1" i="0">
                <a:solidFill>
                  <a:srgbClr val="52B043"/>
                </a:solidFill>
                <a:latin typeface="Segoe UI"/>
              </a:rPr>
              <a:t>cross-tenant send (Green→Corp)</a:t>
            </a:r>
            <a:r>
              <a:rPr sz="1400" b="0" i="0">
                <a:solidFill>
                  <a:srgbClr val="BFBFBF"/>
                </a:solidFill>
                <a:latin typeface="Segoe UI"/>
              </a:rPr>
              <a:t> → ingest → readiness poll → share link</a:t>
            </a:r>
          </a:p>
        </p:txBody>
      </p:sp>
      <p:sp>
        <p:nvSpPr>
          <p:cNvPr id="7" name="TextBox 6"/>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8" name="TextBox 7"/>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MY CONTRIBUTION</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The payload builder</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1" i="0">
                <a:solidFill>
                  <a:srgbClr val="52B043"/>
                </a:solidFill>
                <a:latin typeface="Segoe UI"/>
              </a:rPr>
              <a:t>PR 15834601</a:t>
            </a:r>
            <a:r>
              <a:rPr sz="2100" b="0" i="0">
                <a:solidFill>
                  <a:srgbClr val="FFFFFF"/>
                </a:solidFill>
                <a:latin typeface="Segoe UI"/>
              </a:rPr>
              <a:t> — assembling everything xCloud needs to stream a build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Builds the payload from the publish snapshot: </a:t>
            </a:r>
            <a:r>
              <a:rPr sz="2000" b="1" i="0">
                <a:solidFill>
                  <a:srgbClr val="FFFFFF"/>
                </a:solidFill>
                <a:latin typeface="Segoe UI"/>
              </a:rPr>
              <a:t>StoreAsset</a:t>
            </a:r>
            <a:r>
              <a:rPr sz="2000" b="0" i="0">
                <a:solidFill>
                  <a:srgbClr val="BFBFBF"/>
                </a:solidFill>
                <a:latin typeface="Segoe UI"/>
              </a:rPr>
              <a:t>, </a:t>
            </a:r>
            <a:r>
              <a:rPr sz="2000" b="1" i="0">
                <a:solidFill>
                  <a:srgbClr val="FFFFFF"/>
                </a:solidFill>
                <a:latin typeface="Segoe UI"/>
              </a:rPr>
              <a:t>allowed DNA groups</a:t>
            </a:r>
            <a:r>
              <a:rPr sz="2000" b="0" i="0">
                <a:solidFill>
                  <a:srgbClr val="BFBFBF"/>
                </a:solidFill>
                <a:latin typeface="Segoe UI"/>
              </a:rPr>
              <a:t>, sandbox, bounded expiration</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Mints a </a:t>
            </a:r>
            <a:r>
              <a:rPr sz="2000" b="1" i="0">
                <a:solidFill>
                  <a:srgbClr val="FFFFFF"/>
                </a:solidFill>
                <a:latin typeface="Segoe UI"/>
              </a:rPr>
              <a:t>cross-tenant token</a:t>
            </a:r>
            <a:r>
              <a:rPr sz="2000" b="0" i="0">
                <a:solidFill>
                  <a:srgbClr val="BFBFBF"/>
                </a:solidFill>
                <a:latin typeface="Segoe UI"/>
              </a:rPr>
              <a:t> and fires the streaming ingest</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Opt-in</a:t>
            </a:r>
            <a:r>
              <a:rPr sz="2000" b="0" i="0">
                <a:solidFill>
                  <a:srgbClr val="BFBFBF"/>
                </a:solidFill>
                <a:latin typeface="Segoe UI"/>
              </a:rPr>
              <a:t> (pilot seller) and </a:t>
            </a:r>
            <a:r>
              <a:rPr sz="2000" b="1" i="0">
                <a:solidFill>
                  <a:srgbClr val="FFFFFF"/>
                </a:solidFill>
                <a:latin typeface="Segoe UI"/>
              </a:rPr>
              <a:t>non-blocking</a:t>
            </a:r>
            <a:r>
              <a:rPr sz="2000" b="0" i="0">
                <a:solidFill>
                  <a:srgbClr val="BFBFBF"/>
                </a:solidFill>
                <a:latin typeface="Segoe UI"/>
              </a:rPr>
              <a:t> — never breaks the normal download publish</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THE HARD PROBLEM</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Making two clouds trust each other</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The send crosses an org boundary: </a:t>
            </a:r>
            <a:r>
              <a:rPr sz="2100" b="1" i="0">
                <a:solidFill>
                  <a:srgbClr val="52B043"/>
                </a:solidFill>
                <a:latin typeface="Segoe UI"/>
              </a:rPr>
              <a:t>MSFT Green → Corp</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Green mints a </a:t>
            </a:r>
            <a:r>
              <a:rPr sz="2000" b="1" i="0">
                <a:solidFill>
                  <a:srgbClr val="FFFFFF"/>
                </a:solidFill>
                <a:latin typeface="Segoe UI"/>
              </a:rPr>
              <a:t>v1.0 token</a:t>
            </a:r>
            <a:r>
              <a:rPr sz="2000" b="0" i="0">
                <a:solidFill>
                  <a:srgbClr val="BFBFBF"/>
                </a:solidFill>
                <a:latin typeface="Segoe UI"/>
              </a:rPr>
              <a:t> whose audience is a </a:t>
            </a:r>
            <a:r>
              <a:rPr sz="2000" b="1" i="0">
                <a:solidFill>
                  <a:srgbClr val="FFFFFF"/>
                </a:solidFill>
                <a:latin typeface="Segoe UI"/>
              </a:rPr>
              <a:t>bare app-id GUID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The receiver rejected it — “audience (null) is invalid”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I traced it end-to-end and made ingestion </a:t>
            </a:r>
            <a:r>
              <a:rPr sz="2000" b="1" i="0">
                <a:solidFill>
                  <a:srgbClr val="FFFFFF"/>
                </a:solidFill>
                <a:latin typeface="Segoe UI"/>
              </a:rPr>
              <a:t>accept the bare-GUID audience</a:t>
            </a:r>
            <a:r>
              <a:rPr sz="2000" b="0" i="0">
                <a:solidFill>
                  <a:srgbClr val="BFBFBF"/>
                </a:solidFill>
                <a:latin typeface="Segoe UI"/>
              </a:rPr>
              <a:t> — auth </a:t>
            </a:r>
            <a:r>
              <a:rPr sz="2000" b="1" i="0">
                <a:solidFill>
                  <a:srgbClr val="FFFFFF"/>
                </a:solidFill>
                <a:latin typeface="Segoe UI"/>
              </a:rPr>
              <a:t>and</a:t>
            </a:r>
            <a:r>
              <a:rPr sz="2000" b="0" i="0">
                <a:solidFill>
                  <a:srgbClr val="BFBFBF"/>
                </a:solidFill>
                <a:latin typeface="Segoe UI"/>
              </a:rPr>
              <a:t> authz passed</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IMPACT</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What shipped</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545775" cy="434340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Against the P0 goals:</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Private offering created per playtest</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Audience scoped to invited DNA groups</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New build ingested into streaming on publish</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Seller flighting to limit blast radius</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Shareable-stream backend</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~22 merged PRs</a:t>
            </a:r>
            <a:r>
              <a:rPr sz="2000" b="0" i="0">
                <a:solidFill>
                  <a:srgbClr val="BFBFBF"/>
                </a:solidFill>
                <a:latin typeface="Segoe UI"/>
              </a:rPr>
              <a:t> across </a:t>
            </a:r>
            <a:r>
              <a:rPr sz="2000" b="1" i="0">
                <a:solidFill>
                  <a:srgbClr val="FFFFFF"/>
                </a:solidFill>
                <a:latin typeface="Segoe UI"/>
              </a:rPr>
              <a:t>~8 services</a:t>
            </a:r>
            <a:r>
              <a:rPr sz="2000" b="0" i="0">
                <a:solidFill>
                  <a:srgbClr val="BFBFBF"/>
                </a:solidFill>
                <a:latin typeface="Segoe UI"/>
              </a:rPr>
              <a:t>, two orgs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Backend spine in </a:t>
            </a:r>
            <a:r>
              <a:rPr sz="2000" b="1" i="0">
                <a:solidFill>
                  <a:srgbClr val="FFFFFF"/>
                </a:solidFill>
                <a:latin typeface="Segoe UI"/>
              </a:rPr>
              <a:t>main</a:t>
            </a:r>
            <a:r>
              <a:rPr sz="2000" b="0" i="0">
                <a:solidFill>
                  <a:srgbClr val="BFBFBF"/>
                </a:solidFill>
                <a:latin typeface="Segoe UI"/>
              </a:rPr>
              <a:t> and </a:t>
            </a:r>
            <a:r>
              <a:rPr sz="2000" b="1" i="0">
                <a:solidFill>
                  <a:srgbClr val="FFFFFF"/>
                </a:solidFill>
                <a:latin typeface="Segoe UI"/>
              </a:rPr>
              <a:t>deployed to prod</a:t>
            </a:r>
            <a:r>
              <a:rPr sz="2000" b="0" i="0">
                <a:solidFill>
                  <a:srgbClr val="BFBFBF"/>
                </a:solidFill>
                <a:latin typeface="Segoe UI"/>
              </a:rPr>
              <a:t> — a pilot-seller publish fires the full Green→SAGE→ingest call</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Next: the two </a:t>
            </a:r>
            <a:r>
              <a:rPr sz="2000" b="1" i="0">
                <a:solidFill>
                  <a:srgbClr val="FFFFFF"/>
                </a:solidFill>
                <a:latin typeface="Segoe UI"/>
              </a:rPr>
              <a:t>front ends</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WHAT I LEARNED</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What I grew in</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Ramping fast with AI</a:t>
            </a:r>
            <a:r>
              <a:rPr sz="2000" b="0" i="0">
                <a:solidFill>
                  <a:srgbClr val="BFBFBF"/>
                </a:solidFill>
                <a:latin typeface="Segoe UI"/>
              </a:rPr>
              <a:t> across many unfamiliar repos and services</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Microservice &amp; systems design</a:t>
            </a:r>
            <a:r>
              <a:rPr sz="2000" b="0" i="0">
                <a:solidFill>
                  <a:srgbClr val="BFBFBF"/>
                </a:solidFill>
                <a:latin typeface="Segoe UI"/>
              </a:rPr>
              <a:t> in .NET — resilient, non-blocking</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Cross-team &amp; cross-functional</a:t>
            </a:r>
            <a:r>
              <a:rPr sz="2000" b="0" i="0">
                <a:solidFill>
                  <a:srgbClr val="BFBFBF"/>
                </a:solidFill>
                <a:latin typeface="Segoe UI"/>
              </a:rPr>
              <a:t> collaboration (GSSV × xPlaytest × PM)</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Working through ambiguity</a:t>
            </a:r>
            <a:r>
              <a:rPr sz="2000" b="0" i="0">
                <a:solidFill>
                  <a:srgbClr val="BFBFBF"/>
                </a:solidFill>
                <a:latin typeface="Segoe UI"/>
              </a:rPr>
              <a:t> — reverse-engineering an undocumented flow</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Detail-oriented</a:t>
            </a:r>
            <a:r>
              <a:rPr sz="2000" b="0" i="0">
                <a:solidFill>
                  <a:srgbClr val="BFBFBF"/>
                </a:solidFill>
                <a:latin typeface="Segoe UI"/>
              </a:rPr>
              <a:t> problem solving at the trust boundary</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anchor="t" lIns="0" rIns="0" tIns="0" bIns="0">
            <a:spAutoFit/>
          </a:bodyPr>
          <a:lstStyle/>
          <a:p>
            <a:pPr>
              <a:lnSpc>
                <a:spcPct val="100000"/>
              </a:lnSpc>
              <a:spcBef>
                <a:spcPts val="0"/>
              </a:spcBef>
              <a:spcAft>
                <a:spcPts val="0"/>
              </a:spcAft>
            </a:pPr>
            <a:r>
              <a:rPr sz="1400" b="1" i="0">
                <a:solidFill>
                  <a:srgbClr val="52B043"/>
                </a:solidFill>
                <a:latin typeface="Segoe UI"/>
              </a:rPr>
              <a:t>WHAT'S NEXT</a:t>
            </a:r>
          </a:p>
        </p:txBody>
      </p:sp>
      <p:sp>
        <p:nvSpPr>
          <p:cNvPr id="3" name="TextBox 2"/>
          <p:cNvSpPr txBox="1"/>
          <p:nvPr/>
        </p:nvSpPr>
        <p:spPr>
          <a:xfrm>
            <a:off x="822960" y="841248"/>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What's next</a:t>
            </a:r>
          </a:p>
        </p:txBody>
      </p:sp>
      <p:sp>
        <p:nvSpPr>
          <p:cNvPr id="4" name="Rectangle 3"/>
          <p:cNvSpPr/>
          <p:nvPr/>
        </p:nvSpPr>
        <p:spPr>
          <a:xfrm>
            <a:off x="822960" y="1591056"/>
            <a:ext cx="1920240" cy="6400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Two front ends:</a:t>
            </a:r>
            <a:r>
              <a:rPr sz="2000" b="0" i="0">
                <a:solidFill>
                  <a:srgbClr val="BFBFBF"/>
                </a:solidFill>
                <a:latin typeface="Segoe UI"/>
              </a:rPr>
              <a:t> creator toggle + share link; tester landing that </a:t>
            </a:r>
            <a:r>
              <a:rPr sz="2000" b="1" i="0">
                <a:solidFill>
                  <a:srgbClr val="FFFFFF"/>
                </a:solidFill>
                <a:latin typeface="Segoe UI"/>
              </a:rPr>
              <a:t>logs in first &amp; doesn't leak</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End-to-end validation</a:t>
            </a:r>
            <a:r>
              <a:rPr sz="2000" b="0" i="0">
                <a:solidFill>
                  <a:srgbClr val="BFBFBF"/>
                </a:solidFill>
                <a:latin typeface="Segoe UI"/>
              </a:rPr>
              <a:t> once the front ends land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Roadmap: </a:t>
            </a:r>
            <a:r>
              <a:rPr sz="2000" b="1" i="0">
                <a:solidFill>
                  <a:srgbClr val="FFFFFF"/>
                </a:solidFill>
                <a:latin typeface="Segoe UI"/>
              </a:rPr>
              <a:t>Library integration, invite tokens, console support</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822960" y="1234440"/>
            <a:ext cx="2194560"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545775" cy="1097280"/>
          </a:xfrm>
          <a:prstGeom prst="rect">
            <a:avLst/>
          </a:prstGeom>
          <a:noFill/>
        </p:spPr>
        <p:txBody>
          <a:bodyPr wrap="square" anchor="t" lIns="0" rIns="0" tIns="0" bIns="0">
            <a:spAutoFit/>
          </a:bodyPr>
          <a:lstStyle/>
          <a:p>
            <a:pPr>
              <a:lnSpc>
                <a:spcPct val="100000"/>
              </a:lnSpc>
              <a:spcBef>
                <a:spcPts val="0"/>
              </a:spcBef>
              <a:spcAft>
                <a:spcPts val="0"/>
              </a:spcAft>
            </a:pPr>
            <a:r>
              <a:rPr sz="4800" b="1" i="0">
                <a:solidFill>
                  <a:srgbClr val="FFFFFF"/>
                </a:solidFill>
                <a:latin typeface="Segoe UI Semibold"/>
              </a:rPr>
              <a:t>Thank you</a:t>
            </a:r>
          </a:p>
        </p:txBody>
      </p:sp>
      <p:sp>
        <p:nvSpPr>
          <p:cNvPr id="4" name="TextBox 3"/>
          <p:cNvSpPr txBox="1"/>
          <p:nvPr/>
        </p:nvSpPr>
        <p:spPr>
          <a:xfrm>
            <a:off x="822960" y="2880360"/>
            <a:ext cx="10545775" cy="2194560"/>
          </a:xfrm>
          <a:prstGeom prst="rect">
            <a:avLst/>
          </a:prstGeom>
          <a:noFill/>
        </p:spPr>
        <p:txBody>
          <a:bodyPr wrap="square" anchor="t" lIns="0" rIns="0" tIns="0" bIns="0">
            <a:spAutoFit/>
          </a:bodyPr>
          <a:lstStyle/>
          <a:p>
            <a:pPr>
              <a:lnSpc>
                <a:spcPct val="110000"/>
              </a:lnSpc>
              <a:spcBef>
                <a:spcPts val="0"/>
              </a:spcBef>
              <a:spcAft>
                <a:spcPts val="1000"/>
              </a:spcAft>
            </a:pPr>
            <a:r>
              <a:rPr sz="1900" b="0" i="0">
                <a:solidFill>
                  <a:srgbClr val="BFBFBF"/>
                </a:solidFill>
                <a:latin typeface="Segoe UI"/>
              </a:rPr>
              <a:t>Mentor </a:t>
            </a:r>
            <a:r>
              <a:rPr sz="1900" b="1" i="0">
                <a:solidFill>
                  <a:srgbClr val="FFFFFF"/>
                </a:solidFill>
                <a:latin typeface="Segoe UI"/>
              </a:rPr>
              <a:t>Emma Park</a:t>
            </a:r>
            <a:r>
              <a:rPr sz="1900" b="0" i="0">
                <a:solidFill>
                  <a:srgbClr val="BFBFBF"/>
                </a:solidFill>
                <a:latin typeface="Segoe UI"/>
              </a:rPr>
              <a:t>  ·  Manager </a:t>
            </a:r>
            <a:r>
              <a:rPr sz="1900" b="1" i="0">
                <a:solidFill>
                  <a:srgbClr val="FFFFFF"/>
                </a:solidFill>
                <a:latin typeface="Segoe UI"/>
              </a:rPr>
              <a:t>Brian Bowman</a:t>
            </a:r>
          </a:p>
          <a:p>
            <a:pPr>
              <a:lnSpc>
                <a:spcPct val="110000"/>
              </a:lnSpc>
              <a:spcBef>
                <a:spcPts val="0"/>
              </a:spcBef>
              <a:spcAft>
                <a:spcPts val="1000"/>
              </a:spcAft>
            </a:pPr>
            <a:r>
              <a:rPr sz="1900" b="0" i="0">
                <a:solidFill>
                  <a:srgbClr val="BFBFBF"/>
                </a:solidFill>
                <a:latin typeface="Segoe UI"/>
              </a:rPr>
              <a:t>Feature leads </a:t>
            </a:r>
            <a:r>
              <a:rPr sz="1900" b="1" i="0">
                <a:solidFill>
                  <a:srgbClr val="FFFFFF"/>
                </a:solidFill>
                <a:latin typeface="Segoe UI"/>
              </a:rPr>
              <a:t>David Kushmerick</a:t>
            </a:r>
            <a:r>
              <a:rPr sz="1900" b="0" i="0">
                <a:solidFill>
                  <a:srgbClr val="BFBFBF"/>
                </a:solidFill>
                <a:latin typeface="Segoe UI"/>
              </a:rPr>
              <a:t> &amp; </a:t>
            </a:r>
            <a:r>
              <a:rPr sz="1900" b="1" i="0">
                <a:solidFill>
                  <a:srgbClr val="FFFFFF"/>
                </a:solidFill>
                <a:latin typeface="Segoe UI"/>
              </a:rPr>
              <a:t>Bec Lyons</a:t>
            </a:r>
          </a:p>
          <a:p>
            <a:pPr>
              <a:lnSpc>
                <a:spcPct val="110000"/>
              </a:lnSpc>
              <a:spcBef>
                <a:spcPts val="0"/>
              </a:spcBef>
              <a:spcAft>
                <a:spcPts val="1000"/>
              </a:spcAft>
            </a:pPr>
            <a:r>
              <a:rPr sz="1900" b="0" i="0">
                <a:solidFill>
                  <a:srgbClr val="BFBFBF"/>
                </a:solidFill>
                <a:latin typeface="Segoe UI"/>
              </a:rPr>
              <a:t>Experts </a:t>
            </a:r>
            <a:r>
              <a:rPr sz="1900" b="1" i="0">
                <a:solidFill>
                  <a:srgbClr val="FFFFFF"/>
                </a:solidFill>
                <a:latin typeface="Segoe UI"/>
              </a:rPr>
              <a:t>Anthony Keller · Timi Bolaji · Ashton Summer · Chuy Galvan</a:t>
            </a:r>
          </a:p>
          <a:p>
            <a:pPr>
              <a:lnSpc>
                <a:spcPct val="110000"/>
              </a:lnSpc>
              <a:spcBef>
                <a:spcPts val="0"/>
              </a:spcBef>
              <a:spcAft>
                <a:spcPts val="1000"/>
              </a:spcAft>
            </a:pPr>
            <a:r>
              <a:rPr sz="1900" b="0" i="0">
                <a:solidFill>
                  <a:srgbClr val="BFBFBF"/>
                </a:solidFill>
                <a:latin typeface="Segoe UI"/>
              </a:rPr>
              <a:t>The </a:t>
            </a:r>
            <a:r>
              <a:rPr sz="1900" b="1" i="0">
                <a:solidFill>
                  <a:srgbClr val="FFFFFF"/>
                </a:solidFill>
                <a:latin typeface="Segoe UI"/>
              </a:rPr>
              <a:t>Juno</a:t>
            </a:r>
            <a:r>
              <a:rPr sz="1900" b="0" i="0">
                <a:solidFill>
                  <a:srgbClr val="BFBFBF"/>
                </a:solidFill>
                <a:latin typeface="Segoe UI"/>
              </a:rPr>
              <a:t>, </a:t>
            </a:r>
            <a:r>
              <a:rPr sz="1900" b="1" i="0">
                <a:solidFill>
                  <a:srgbClr val="FFFFFF"/>
                </a:solidFill>
                <a:latin typeface="Segoe UI"/>
              </a:rPr>
              <a:t>xPlaytest</a:t>
            </a:r>
            <a:r>
              <a:rPr sz="1900" b="0" i="0">
                <a:solidFill>
                  <a:srgbClr val="BFBFBF"/>
                </a:solidFill>
                <a:latin typeface="Segoe UI"/>
              </a:rPr>
              <a:t>, and </a:t>
            </a:r>
            <a:r>
              <a:rPr sz="1900" b="1" i="0">
                <a:solidFill>
                  <a:srgbClr val="FFFFFF"/>
                </a:solidFill>
                <a:latin typeface="Segoe UI"/>
              </a:rPr>
              <a:t>GSSV</a:t>
            </a:r>
            <a:r>
              <a:rPr sz="1900" b="0" i="0">
                <a:solidFill>
                  <a:srgbClr val="BFBFBF"/>
                </a:solidFill>
                <a:latin typeface="Segoe UI"/>
              </a:rPr>
              <a:t> teams</a:t>
            </a:r>
          </a:p>
        </p:txBody>
      </p:sp>
      <p:sp>
        <p:nvSpPr>
          <p:cNvPr id="5" name="TextBox 4"/>
          <p:cNvSpPr txBox="1"/>
          <p:nvPr/>
        </p:nvSpPr>
        <p:spPr>
          <a:xfrm>
            <a:off x="822960" y="5440680"/>
            <a:ext cx="10545775" cy="731520"/>
          </a:xfrm>
          <a:prstGeom prst="rect">
            <a:avLst/>
          </a:prstGeom>
          <a:noFill/>
        </p:spPr>
        <p:txBody>
          <a:bodyPr wrap="square" anchor="t" lIns="0" rIns="0" tIns="0" bIns="0">
            <a:spAutoFit/>
          </a:bodyPr>
          <a:lstStyle/>
          <a:p>
            <a:pPr>
              <a:lnSpc>
                <a:spcPct val="100000"/>
              </a:lnSpc>
              <a:spcBef>
                <a:spcPts val="0"/>
              </a:spcBef>
              <a:spcAft>
                <a:spcPts val="0"/>
              </a:spcAft>
            </a:pPr>
            <a:r>
              <a:rPr sz="3000" b="1" i="0">
                <a:solidFill>
                  <a:srgbClr val="52B043"/>
                </a:solidFill>
                <a:latin typeface="Segoe UI Semibold"/>
              </a:rPr>
              <a:t>Questions?</a:t>
            </a:r>
          </a:p>
        </p:txBody>
      </p:sp>
      <p:sp>
        <p:nvSpPr>
          <p:cNvPr id="6" name="TextBox 5"/>
          <p:cNvSpPr txBox="1"/>
          <p:nvPr/>
        </p:nvSpPr>
        <p:spPr>
          <a:xfrm>
            <a:off x="822960" y="6437376"/>
            <a:ext cx="8229600" cy="320040"/>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Melanie Chen  ·  Xbox / Juno</a:t>
            </a:r>
          </a:p>
        </p:txBody>
      </p:sp>
      <p:sp>
        <p:nvSpPr>
          <p:cNvPr id="7" name="TextBox 6"/>
          <p:cNvSpPr txBox="1"/>
          <p:nvPr/>
        </p:nvSpPr>
        <p:spPr>
          <a:xfrm>
            <a:off x="10271455" y="6437376"/>
            <a:ext cx="1097280" cy="320040"/>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