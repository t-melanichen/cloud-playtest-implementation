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everyone — I'm Melanie, an SWE intern on Xbox Juno. In under 10 minutes I'll show Instantly Shareable Playtest: a creator can share an unreleased build that a tester streams from the cloud in seconds — no download, no install, no devkit. I'll frame the problem, walk the architecture and the two hardest pieces, then play a recorded end-to-end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quick bit about me. [Fill in your school and background.] I joined Juno, whose mission is to lower the barrier for game creators. My project lived almost entirely in the backend, threading a build across about thirteen services — which meant ramping up fast. Big thanks to my manager Brian and my mentor Emma.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did this start? The xPlaytest team had already made testing easier — a creator can share a retail-signed private build without certification or a store page. But three barriers remained. Modern games are hundreds of gigabytes, so every tester sits through a huge install. Creators have to buy and set up lots of hardware to test compatibility. And physical devices are a security risk — a lost devkit means the unreleased code is right there. We wanted to remove all three.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is to combine xPlaytest with Xbox Cloud Gaming. The creator just opts in to cloud streaming and shares a link. An invited tester clicks it and — instead of downloading anything — streams the build straight from the cloud, in seconds. It's still a real retail build; it just runs in xCloud instead of on the tester's own hardware. That's the north star. Worth noting the differentiation: we're not aware of another platform where a tester streams a private, unreleased build with no install — the beta channels (Steam playtests, TestFlight) are download-based, and cloud gaming services stream published titles you already own. This combines the 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for the whole flow, since this is a dev crowd, grouped by the two systems it spans. On the left, Xbet — that's xPlaytest and the xPackage publish workflow, the caller: it resolves the audience (the invited DNA groups), the build publishes, and I assemble the payload of everything xCloud needs. That crosses to xCloud through SAGE, the cross-tenant gateway. On the right, xCloud — Game Streaming Services: content ingestion (CTIN) ingests the build, configures the private offering and attaches the title in Partner Registry, polls until a server has staged the exact version, and the share link streams it. I touched every hop across both systems; the next two slides zoom into the pieces I'm proudest 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headline piece is the payload builder. When a creator publishes, I take a snapshot of that publish and assemble everything Game Streaming Services needs: the store asset details, the allowed audience groups, the sandbox, and a bounded expiration. Then it mints a cross-tenant token and fires the ingestion. Two design choices I care about: it's opt-in, gated to a pilot seller so we could roll out safely; and it's non-blocking — if streaming ever fails, the normal download publish still succeeds. We never degrade the existing product to add the new 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hardest problem was authentication across that org boundary. The caller lives in the MSFT Green tenant and the receiver lives in Corp — two separate trust domains. The Green side mints an older-style token whose audience claim is just a bare GUID, and the receiver kept rejecting it with 'audience null is invalid.' I traced the token through both services to find that mismatch, then fixed the receiver to accept the bare-GUID audience. When that clicked, the request finally authenticated and authorized end to end — the kind of bug that's invisible until you understand both sides.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seen the architecture and the two hard parts — now watch it work. Beat one: a creator publishes a playtest with cloud streaming on — opt-in. (The creator toggle front end isn't built yet, so I fire the exact same publish signal it will send.) Beat two: on publish, the backend assembles the payload, mints the cross-tenant token, sends Green→Corp through SAGE, ingests the build, and polls for a server. Beat three: that one publish produces a **private, invite-scoped streaming offering that's live and resolvable in prod** — here's the product page with the 'Get Ready to Stream' CTA. The **goal is the tester clicking that and streaming in seconds** — that last mile, the front ends and the prod streaming lane, is what's next. [Play recording. ~3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actually shipped? Going down the P0 list: private offering per playtest — done; audience scoping — done; build ingestion on publish — done; seller flighting to limit blast radius — done; and the shareable-stream backend — done. It spans roughly thirteen services across two orgs. The backend spine is in main and deployed to prod — today a publish by our pilot seller fires the whole cross-cloud call for real. Why it matters: it removes the two barriers testing had — there's no multi-hundred-GB install for the tester, and because the build only ever runs in the cloud, an unreleased game never leaves on someone's hardware, so there's no leaked-devkit risk. What's left is the two front ends.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demo. Huge thanks to my mentor Emma and manager Brian, to David and Bec on the feature side, and the Juno, xPlaytest, and Game Streaming teams. On what's next — straight from the project's north star: the two front ends are the big ones, the creator's shareable link in the xPlaytest portal and the Bayside tester experience, which logs the tester in first so nothing leaks, then shows the playtest's details and art and lets them stream. After that, rounding out self-serve — deleting a playtest cleans up its offering, and funneling playtester feedback back to the studio — and the stretch goals: launch args so a nightly test can jump to a level or a dev mode, streaming region and touch controls, and console support. It's all documented in the Juno repo.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Q&amp;A — the complete, detailed architecture diagram behind the six-step spine, including the PC install-readiness polling loop.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22415" y="1920239"/>
            <a:ext cx="5486400" cy="4572000"/>
          </a:xfrm>
          <a:prstGeom prst="rect">
            <a:avLst/>
          </a:prstGeom>
          <a:noFill/>
        </p:spPr>
        <p:txBody>
          <a:bodyPr wrap="square" anchor="t" lIns="0" rIns="0" tIns="0" bIns="0">
            <a:spAutoFit/>
          </a:bodyPr>
          <a:lstStyle/>
          <a:p>
            <a:pPr algn="r">
              <a:lnSpc>
                <a:spcPct val="100000"/>
              </a:lnSpc>
              <a:spcBef>
                <a:spcPts val="0"/>
              </a:spcBef>
              <a:spcAft>
                <a:spcPts val="0"/>
              </a:spcAft>
            </a:pPr>
            <a:r>
              <a:rPr sz="30000" b="1" i="0">
                <a:solidFill>
                  <a:srgbClr val="121212"/>
                </a:solidFill>
                <a:latin typeface="Segoe UI Semibold"/>
              </a:rPr>
              <a:t>▶</a:t>
            </a:r>
          </a:p>
        </p:txBody>
      </p:sp>
      <p:sp>
        <p:nvSpPr>
          <p:cNvPr id="3" name="Rectangle 2"/>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097280"/>
            <a:ext cx="4486046"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XBOX DEVELOPER DEMOS  ·  JUL 2026</a:t>
            </a:r>
          </a:p>
        </p:txBody>
      </p:sp>
      <p:sp>
        <p:nvSpPr>
          <p:cNvPr id="6" name="TextBox 5"/>
          <p:cNvSpPr txBox="1"/>
          <p:nvPr/>
        </p:nvSpPr>
        <p:spPr>
          <a:xfrm>
            <a:off x="822960" y="2286000"/>
            <a:ext cx="10545775" cy="1188720"/>
          </a:xfrm>
          <a:prstGeom prst="rect">
            <a:avLst/>
          </a:prstGeom>
          <a:noFill/>
        </p:spPr>
        <p:txBody>
          <a:bodyPr wrap="square" anchor="t" lIns="0" rIns="0" tIns="0" bIns="0">
            <a:spAutoFit/>
          </a:bodyPr>
          <a:lstStyle/>
          <a:p>
            <a:pPr>
              <a:lnSpc>
                <a:spcPct val="100000"/>
              </a:lnSpc>
              <a:spcBef>
                <a:spcPts val="0"/>
              </a:spcBef>
              <a:spcAft>
                <a:spcPts val="0"/>
              </a:spcAft>
            </a:pPr>
            <a:r>
              <a:rPr sz="5200" b="1" i="0">
                <a:solidFill>
                  <a:srgbClr val="FFFFFF"/>
                </a:solidFill>
                <a:latin typeface="Segoe UI Semibold"/>
              </a:rPr>
              <a:t>Instantly Shareable Playtest</a:t>
            </a:r>
          </a:p>
        </p:txBody>
      </p:sp>
      <p:sp>
        <p:nvSpPr>
          <p:cNvPr id="7" name="Rectangle 6"/>
          <p:cNvSpPr/>
          <p:nvPr/>
        </p:nvSpPr>
        <p:spPr>
          <a:xfrm>
            <a:off x="822960" y="3401568"/>
            <a:ext cx="1645920" cy="7315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639312"/>
            <a:ext cx="7955279" cy="1280160"/>
          </a:xfrm>
          <a:prstGeom prst="rect">
            <a:avLst/>
          </a:prstGeom>
          <a:noFill/>
        </p:spPr>
        <p:txBody>
          <a:bodyPr wrap="square" anchor="t" lIns="0" rIns="0" tIns="0" bIns="0">
            <a:spAutoFit/>
          </a:bodyPr>
          <a:lstStyle/>
          <a:p>
            <a:pPr>
              <a:lnSpc>
                <a:spcPct val="112000"/>
              </a:lnSpc>
              <a:spcBef>
                <a:spcPts val="0"/>
              </a:spcBef>
              <a:spcAft>
                <a:spcPts val="0"/>
              </a:spcAft>
            </a:pPr>
            <a:r>
              <a:rPr sz="2200" b="0" i="0">
                <a:solidFill>
                  <a:srgbClr val="BFBFBF"/>
                </a:solidFill>
                <a:latin typeface="Segoe UI"/>
              </a:rPr>
              <a:t>Stream a pre-release build from the cloud — in seconds. No install, no devkit.</a:t>
            </a:r>
          </a:p>
        </p:txBody>
      </p:sp>
      <p:sp>
        <p:nvSpPr>
          <p:cNvPr id="9" name="TextBox 8"/>
          <p:cNvSpPr txBox="1"/>
          <p:nvPr/>
        </p:nvSpPr>
        <p:spPr>
          <a:xfrm>
            <a:off x="822960" y="5120640"/>
            <a:ext cx="10545775" cy="1097280"/>
          </a:xfrm>
          <a:prstGeom prst="rect">
            <a:avLst/>
          </a:prstGeom>
          <a:noFill/>
        </p:spPr>
        <p:txBody>
          <a:bodyPr wrap="square" anchor="t" lIns="0" rIns="0" tIns="0" bIns="0">
            <a:spAutoFit/>
          </a:bodyPr>
          <a:lstStyle/>
          <a:p>
            <a:pPr>
              <a:lnSpc>
                <a:spcPct val="100000"/>
              </a:lnSpc>
              <a:spcBef>
                <a:spcPts val="0"/>
              </a:spcBef>
              <a:spcAft>
                <a:spcPts val="400"/>
              </a:spcAft>
            </a:pPr>
            <a:r>
              <a:rPr sz="2200" b="1" i="0">
                <a:solidFill>
                  <a:srgbClr val="FFFFFF"/>
                </a:solidFill>
                <a:latin typeface="Segoe UI Semibold"/>
              </a:rPr>
              <a:t>Melanie Chen — Software Engineering Intern</a:t>
            </a:r>
          </a:p>
          <a:p>
            <a:pPr>
              <a:lnSpc>
                <a:spcPct val="100000"/>
              </a:lnSpc>
              <a:spcBef>
                <a:spcPts val="0"/>
              </a:spcBef>
              <a:spcAft>
                <a:spcPts val="0"/>
              </a:spcAft>
            </a:pPr>
            <a:r>
              <a:rPr sz="1600" b="0" i="0">
                <a:solidFill>
                  <a:srgbClr val="BFBFBF"/>
                </a:solidFill>
                <a:latin typeface="Segoe UI"/>
              </a:rPr>
              <a:t>Xbox / Juno</a:t>
            </a:r>
          </a:p>
        </p:txBody>
      </p:sp>
      <p:sp>
        <p:nvSpPr>
          <p:cNvPr id="10" name="Oval 9"/>
          <p:cNvSpPr/>
          <p:nvPr/>
        </p:nvSpPr>
        <p:spPr>
          <a:xfrm>
            <a:off x="5362041"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1468526"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ABOUT ME</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About me</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[University · Degree · Expected year]</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Team </a:t>
            </a:r>
            <a:r>
              <a:rPr sz="2000" b="1" i="0">
                <a:solidFill>
                  <a:srgbClr val="FFFFFF"/>
                </a:solidFill>
                <a:latin typeface="Segoe UI"/>
              </a:rPr>
              <a:t>Juno</a:t>
            </a:r>
            <a:r>
              <a:rPr sz="2000" b="0" i="0">
                <a:solidFill>
                  <a:srgbClr val="BFBFBF"/>
                </a:solidFill>
                <a:latin typeface="Segoe UI"/>
              </a:rPr>
              <a:t> (Xbox) — reducing friction for game creators</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Manager </a:t>
            </a:r>
            <a:r>
              <a:rPr sz="2000" b="1" i="0">
                <a:solidFill>
                  <a:srgbClr val="FFFFFF"/>
                </a:solidFill>
                <a:latin typeface="Segoe UI"/>
              </a:rPr>
              <a:t>Brian Bowman</a:t>
            </a:r>
            <a:r>
              <a:rPr sz="2000" b="0" i="0">
                <a:solidFill>
                  <a:srgbClr val="BFBFBF"/>
                </a:solidFill>
                <a:latin typeface="Segoe UI"/>
              </a:rPr>
              <a:t>  ·  Mentor </a:t>
            </a:r>
            <a:r>
              <a:rPr sz="2000" b="1" i="0">
                <a:solidFill>
                  <a:srgbClr val="FFFFFF"/>
                </a:solidFill>
                <a:latin typeface="Segoe UI"/>
              </a:rPr>
              <a:t>Emma Park</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My summer: backend across </a:t>
            </a:r>
            <a:r>
              <a:rPr sz="2000" b="1" i="0">
                <a:solidFill>
                  <a:srgbClr val="FFFFFF"/>
                </a:solidFill>
                <a:latin typeface="Segoe UI"/>
              </a:rPr>
              <a:t>~13 services</a:t>
            </a:r>
            <a:r>
              <a:rPr sz="2000" b="0" i="0">
                <a:solidFill>
                  <a:srgbClr val="BFBFBF"/>
                </a:solidFill>
                <a:latin typeface="Segoe UI"/>
              </a:rPr>
              <a:t>, </a:t>
            </a:r>
            <a:r>
              <a:rPr sz="2000" b="1" i="0">
                <a:solidFill>
                  <a:srgbClr val="FFFFFF"/>
                </a:solidFill>
                <a:latin typeface="Segoe UI"/>
              </a:rPr>
              <a:t>two orgs</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[One line — an interest or something fun about you]</a:t>
            </a:r>
          </a:p>
        </p:txBody>
      </p:sp>
      <p:sp>
        <p:nvSpPr>
          <p:cNvPr id="6" name="Rectangle 5"/>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1" name="TextBox 10"/>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2</a:t>
            </a:r>
          </a:p>
        </p:txBody>
      </p:sp>
      <p:sp>
        <p:nvSpPr>
          <p:cNvPr id="12" name="Oval 11"/>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17489"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1830628"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THE PROBLEM</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Testing shouldn't mean shipping the whole game</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0" i="0">
                <a:solidFill>
                  <a:srgbClr val="FFFFFF"/>
                </a:solidFill>
                <a:latin typeface="Segoe UI"/>
              </a:rPr>
              <a:t>xPlaytest already shares </a:t>
            </a:r>
            <a:r>
              <a:rPr sz="2100" b="1" i="0">
                <a:solidFill>
                  <a:srgbClr val="52B043"/>
                </a:solidFill>
                <a:latin typeface="Segoe UI"/>
              </a:rPr>
              <a:t>RETAIL-signed private builds</a:t>
            </a:r>
            <a:r>
              <a:rPr sz="2100" b="0" i="0">
                <a:solidFill>
                  <a:srgbClr val="FFFFFF"/>
                </a:solidFill>
                <a:latin typeface="Segoe UI"/>
              </a:rPr>
              <a:t> — no cert, no store page.</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Games are </a:t>
            </a:r>
            <a:r>
              <a:rPr sz="2000" b="1" i="0">
                <a:solidFill>
                  <a:srgbClr val="FFFFFF"/>
                </a:solidFill>
                <a:latin typeface="Segoe UI"/>
              </a:rPr>
              <a:t>hundreds of GB</a:t>
            </a:r>
            <a:r>
              <a:rPr sz="2000" b="0" i="0">
                <a:solidFill>
                  <a:srgbClr val="BFBFBF"/>
                </a:solidFill>
                <a:latin typeface="Segoe UI"/>
              </a:rPr>
              <a:t> — every tester waits on a slow install</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Creators must </a:t>
            </a:r>
            <a:r>
              <a:rPr sz="2000" b="1" i="0">
                <a:solidFill>
                  <a:srgbClr val="FFFFFF"/>
                </a:solidFill>
                <a:latin typeface="Segoe UI"/>
              </a:rPr>
              <a:t>provision many hardware profiles</a:t>
            </a:r>
            <a:r>
              <a:rPr sz="2000" b="0" i="0">
                <a:solidFill>
                  <a:srgbClr val="BFBFBF"/>
                </a:solidFill>
                <a:latin typeface="Segoe UI"/>
              </a:rPr>
              <a:t> for compatibility</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Physical devices </a:t>
            </a:r>
            <a:r>
              <a:rPr sz="2000" b="1" i="0">
                <a:solidFill>
                  <a:srgbClr val="FFFFFF"/>
                </a:solidFill>
                <a:latin typeface="Segoe UI"/>
              </a:rPr>
              <a:t>risk leaking</a:t>
            </a:r>
            <a:r>
              <a:rPr sz="2000" b="0" i="0">
                <a:solidFill>
                  <a:srgbClr val="BFBFBF"/>
                </a:solidFill>
                <a:latin typeface="Segoe UI"/>
              </a:rPr>
              <a:t> locally-inspectable game code</a:t>
            </a:r>
          </a:p>
        </p:txBody>
      </p:sp>
      <p:sp>
        <p:nvSpPr>
          <p:cNvPr id="6" name="Rectangle 5"/>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1" name="TextBox 10"/>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3</a:t>
            </a:r>
          </a:p>
        </p:txBody>
      </p:sp>
      <p:sp>
        <p:nvSpPr>
          <p:cNvPr id="12" name="Oval 11"/>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72937"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1709928"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THE VISION</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Instantly Shareable Playtest</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1" i="0">
                <a:solidFill>
                  <a:srgbClr val="52B043"/>
                </a:solidFill>
                <a:latin typeface="Segoe UI"/>
              </a:rPr>
              <a:t>xPlaytest × Xbox Cloud Gaming</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The creator flips on </a:t>
            </a:r>
            <a:r>
              <a:rPr sz="2000" b="1" i="0">
                <a:solidFill>
                  <a:srgbClr val="FFFFFF"/>
                </a:solidFill>
                <a:latin typeface="Segoe UI"/>
              </a:rPr>
              <a:t>“allow cloud streaming”</a:t>
            </a:r>
            <a:r>
              <a:rPr sz="2000" b="0" i="0">
                <a:solidFill>
                  <a:srgbClr val="BFBFBF"/>
                </a:solidFill>
                <a:latin typeface="Segoe UI"/>
              </a:rPr>
              <a:t> and shares a link</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An invited tester </a:t>
            </a:r>
            <a:r>
              <a:rPr sz="2000" b="1" i="0">
                <a:solidFill>
                  <a:srgbClr val="FFFFFF"/>
                </a:solidFill>
                <a:latin typeface="Segoe UI"/>
              </a:rPr>
              <a:t>streams the private RETAIL build in seconds</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No install. No download. No devkit.</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Not aware of another platform</a:t>
            </a:r>
            <a:r>
              <a:rPr sz="2000" b="0" i="0">
                <a:solidFill>
                  <a:srgbClr val="BFBFBF"/>
                </a:solidFill>
                <a:latin typeface="Segoe UI"/>
              </a:rPr>
              <a:t> that does this — beta channels download; cloud gaming streams published titles</a:t>
            </a:r>
          </a:p>
        </p:txBody>
      </p:sp>
      <p:sp>
        <p:nvSpPr>
          <p:cNvPr id="6" name="Rectangle 5"/>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1" name="TextBox 10"/>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4</a:t>
            </a:r>
          </a:p>
        </p:txBody>
      </p:sp>
      <p:sp>
        <p:nvSpPr>
          <p:cNvPr id="12" name="Oval 11"/>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28385"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1951329"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HOW IT WORKS</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The backend spine</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788920"/>
            <a:ext cx="4279392" cy="1691640"/>
          </a:xfrm>
          <a:prstGeom prst="roundRect">
            <a:avLst>
              <a:gd name="adj" fmla="val 4500"/>
            </a:avLst>
          </a:prstGeom>
          <a:no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2478024"/>
            <a:ext cx="4279392" cy="274320"/>
          </a:xfrm>
          <a:prstGeom prst="rect">
            <a:avLst/>
          </a:prstGeom>
          <a:noFill/>
        </p:spPr>
        <p:txBody>
          <a:bodyPr wrap="square" anchor="t" lIns="0" rIns="0" tIns="0" bIns="0">
            <a:spAutoFit/>
          </a:bodyPr>
          <a:lstStyle/>
          <a:p>
            <a:pPr>
              <a:lnSpc>
                <a:spcPct val="100000"/>
              </a:lnSpc>
              <a:spcBef>
                <a:spcPts val="0"/>
              </a:spcBef>
              <a:spcAft>
                <a:spcPts val="0"/>
              </a:spcAft>
            </a:pPr>
            <a:r>
              <a:rPr sz="1150" b="1" i="0">
                <a:solidFill>
                  <a:srgbClr val="52B043"/>
                </a:solidFill>
                <a:latin typeface="Segoe UI"/>
              </a:rPr>
              <a:t>XBET · XPLAYTEST / XPACKAGE</a:t>
            </a:r>
          </a:p>
        </p:txBody>
      </p:sp>
      <p:sp>
        <p:nvSpPr>
          <p:cNvPr id="7" name="Rounded Rectangle 6"/>
          <p:cNvSpPr/>
          <p:nvPr/>
        </p:nvSpPr>
        <p:spPr>
          <a:xfrm>
            <a:off x="5696712" y="2788920"/>
            <a:ext cx="5669280" cy="1691640"/>
          </a:xfrm>
          <a:prstGeom prst="roundRect">
            <a:avLst>
              <a:gd name="adj" fmla="val 4500"/>
            </a:avLst>
          </a:prstGeom>
          <a:noFill/>
          <a:ln w="12700">
            <a:solidFill>
              <a:srgbClr val="2A2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51576" y="2478024"/>
            <a:ext cx="5669280" cy="274320"/>
          </a:xfrm>
          <a:prstGeom prst="rect">
            <a:avLst/>
          </a:prstGeom>
          <a:noFill/>
        </p:spPr>
        <p:txBody>
          <a:bodyPr wrap="square" anchor="t" lIns="0" rIns="0" tIns="0" bIns="0">
            <a:spAutoFit/>
          </a:bodyPr>
          <a:lstStyle/>
          <a:p>
            <a:pPr>
              <a:lnSpc>
                <a:spcPct val="100000"/>
              </a:lnSpc>
              <a:spcBef>
                <a:spcPts val="0"/>
              </a:spcBef>
              <a:spcAft>
                <a:spcPts val="0"/>
              </a:spcAft>
            </a:pPr>
            <a:r>
              <a:rPr sz="1150" b="1" i="0">
                <a:solidFill>
                  <a:srgbClr val="52B043"/>
                </a:solidFill>
                <a:latin typeface="Segoe UI"/>
              </a:rPr>
              <a:t>XCLOUD · GSSV</a:t>
            </a:r>
          </a:p>
        </p:txBody>
      </p:sp>
      <p:sp>
        <p:nvSpPr>
          <p:cNvPr id="9" name="Right Arrow 8"/>
          <p:cNvSpPr/>
          <p:nvPr/>
        </p:nvSpPr>
        <p:spPr>
          <a:xfrm>
            <a:off x="2185416" y="3584448"/>
            <a:ext cx="164592" cy="146304"/>
          </a:xfrm>
          <a:prstGeom prst="rightArrow">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ight Arrow 9"/>
          <p:cNvSpPr/>
          <p:nvPr/>
        </p:nvSpPr>
        <p:spPr>
          <a:xfrm>
            <a:off x="3575304" y="3584448"/>
            <a:ext cx="164592" cy="146304"/>
          </a:xfrm>
          <a:prstGeom prst="rightArrow">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ight Arrow 10"/>
          <p:cNvSpPr/>
          <p:nvPr/>
        </p:nvSpPr>
        <p:spPr>
          <a:xfrm>
            <a:off x="7059168" y="3584448"/>
            <a:ext cx="164592" cy="146304"/>
          </a:xfrm>
          <a:prstGeom prst="rightArrow">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ight Arrow 11"/>
          <p:cNvSpPr/>
          <p:nvPr/>
        </p:nvSpPr>
        <p:spPr>
          <a:xfrm>
            <a:off x="8449056" y="3584448"/>
            <a:ext cx="164592" cy="146304"/>
          </a:xfrm>
          <a:prstGeom prst="rightArrow">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ight Arrow 12"/>
          <p:cNvSpPr/>
          <p:nvPr/>
        </p:nvSpPr>
        <p:spPr>
          <a:xfrm>
            <a:off x="9838944" y="3584448"/>
            <a:ext cx="164592" cy="146304"/>
          </a:xfrm>
          <a:prstGeom prst="rightArrow">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5298948" y="3566160"/>
            <a:ext cx="201168" cy="182880"/>
          </a:xfrm>
          <a:prstGeom prst="rightArrow">
            <a:avLst/>
          </a:prstGeom>
          <a:solidFill>
            <a:srgbClr val="107C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50892" y="3145536"/>
            <a:ext cx="1097280" cy="274320"/>
          </a:xfrm>
          <a:prstGeom prst="rect">
            <a:avLst/>
          </a:prstGeom>
          <a:noFill/>
        </p:spPr>
        <p:txBody>
          <a:bodyPr wrap="square" anchor="t" lIns="0" rIns="0" tIns="0" bIns="0">
            <a:spAutoFit/>
          </a:bodyPr>
          <a:lstStyle/>
          <a:p>
            <a:pPr algn="ctr">
              <a:lnSpc>
                <a:spcPct val="100000"/>
              </a:lnSpc>
              <a:spcBef>
                <a:spcPts val="0"/>
              </a:spcBef>
              <a:spcAft>
                <a:spcPts val="0"/>
              </a:spcAft>
            </a:pPr>
            <a:r>
              <a:rPr sz="1200" b="1" i="0">
                <a:solidFill>
                  <a:srgbClr val="52B043"/>
                </a:solidFill>
                <a:latin typeface="Segoe UI Semibold"/>
              </a:rPr>
              <a:t>SAGE</a:t>
            </a:r>
          </a:p>
        </p:txBody>
      </p:sp>
      <p:sp>
        <p:nvSpPr>
          <p:cNvPr id="16" name="Rounded Rectangle 15"/>
          <p:cNvSpPr/>
          <p:nvPr/>
        </p:nvSpPr>
        <p:spPr>
          <a:xfrm>
            <a:off x="950976"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42416"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Audience</a:t>
            </a:r>
          </a:p>
          <a:p>
            <a:pPr algn="ctr">
              <a:lnSpc>
                <a:spcPct val="105000"/>
              </a:lnSpc>
              <a:spcBef>
                <a:spcPts val="0"/>
              </a:spcBef>
              <a:spcAft>
                <a:spcPts val="0"/>
              </a:spcAft>
            </a:pPr>
            <a:r>
              <a:rPr sz="900" b="0" i="0">
                <a:solidFill>
                  <a:srgbClr val="BFBFBF"/>
                </a:solidFill>
                <a:latin typeface="Segoe UI"/>
              </a:rPr>
              <a:t>invited DNA groups</a:t>
            </a:r>
          </a:p>
        </p:txBody>
      </p:sp>
      <p:sp>
        <p:nvSpPr>
          <p:cNvPr id="18" name="Rounded Rectangle 17"/>
          <p:cNvSpPr/>
          <p:nvPr/>
        </p:nvSpPr>
        <p:spPr>
          <a:xfrm>
            <a:off x="2340864"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432304"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Build</a:t>
            </a:r>
          </a:p>
          <a:p>
            <a:pPr algn="ctr">
              <a:lnSpc>
                <a:spcPct val="105000"/>
              </a:lnSpc>
              <a:spcBef>
                <a:spcPts val="0"/>
              </a:spcBef>
              <a:spcAft>
                <a:spcPts val="0"/>
              </a:spcAft>
            </a:pPr>
            <a:r>
              <a:rPr sz="900" b="0" i="0">
                <a:solidFill>
                  <a:srgbClr val="BFBFBF"/>
                </a:solidFill>
                <a:latin typeface="Segoe UI"/>
              </a:rPr>
              <a:t>xPackage publish</a:t>
            </a:r>
          </a:p>
        </p:txBody>
      </p:sp>
      <p:sp>
        <p:nvSpPr>
          <p:cNvPr id="20" name="Rounded Rectangle 19"/>
          <p:cNvSpPr/>
          <p:nvPr/>
        </p:nvSpPr>
        <p:spPr>
          <a:xfrm>
            <a:off x="3730752"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822191"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Payload</a:t>
            </a:r>
          </a:p>
          <a:p>
            <a:pPr algn="ctr">
              <a:lnSpc>
                <a:spcPct val="105000"/>
              </a:lnSpc>
              <a:spcBef>
                <a:spcPts val="0"/>
              </a:spcBef>
              <a:spcAft>
                <a:spcPts val="0"/>
              </a:spcAft>
            </a:pPr>
            <a:r>
              <a:rPr sz="900" b="0" i="0">
                <a:solidFill>
                  <a:srgbClr val="BFBFBF"/>
                </a:solidFill>
                <a:latin typeface="Segoe UI"/>
              </a:rPr>
              <a:t>asset + audience</a:t>
            </a:r>
          </a:p>
        </p:txBody>
      </p:sp>
      <p:sp>
        <p:nvSpPr>
          <p:cNvPr id="22" name="Rounded Rectangle 21"/>
          <p:cNvSpPr/>
          <p:nvPr/>
        </p:nvSpPr>
        <p:spPr>
          <a:xfrm>
            <a:off x="5824728"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16168"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Ingest</a:t>
            </a:r>
          </a:p>
          <a:p>
            <a:pPr algn="ctr">
              <a:lnSpc>
                <a:spcPct val="105000"/>
              </a:lnSpc>
              <a:spcBef>
                <a:spcPts val="0"/>
              </a:spcBef>
              <a:spcAft>
                <a:spcPts val="0"/>
              </a:spcAft>
            </a:pPr>
            <a:r>
              <a:rPr sz="900" b="0" i="0">
                <a:solidFill>
                  <a:srgbClr val="BFBFBF"/>
                </a:solidFill>
                <a:latin typeface="Segoe UI"/>
              </a:rPr>
              <a:t>CTIN loads build</a:t>
            </a:r>
          </a:p>
        </p:txBody>
      </p:sp>
      <p:sp>
        <p:nvSpPr>
          <p:cNvPr id="24" name="Rounded Rectangle 23"/>
          <p:cNvSpPr/>
          <p:nvPr/>
        </p:nvSpPr>
        <p:spPr>
          <a:xfrm>
            <a:off x="7214616"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06056"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Offering</a:t>
            </a:r>
          </a:p>
          <a:p>
            <a:pPr algn="ctr">
              <a:lnSpc>
                <a:spcPct val="105000"/>
              </a:lnSpc>
              <a:spcBef>
                <a:spcPts val="0"/>
              </a:spcBef>
              <a:spcAft>
                <a:spcPts val="0"/>
              </a:spcAft>
            </a:pPr>
            <a:r>
              <a:rPr sz="900" b="0" i="0">
                <a:solidFill>
                  <a:srgbClr val="BFBFBF"/>
                </a:solidFill>
                <a:latin typeface="Segoe UI"/>
              </a:rPr>
              <a:t>PTNR · gated + title</a:t>
            </a:r>
          </a:p>
        </p:txBody>
      </p:sp>
      <p:sp>
        <p:nvSpPr>
          <p:cNvPr id="26" name="Rounded Rectangle 25"/>
          <p:cNvSpPr/>
          <p:nvPr/>
        </p:nvSpPr>
        <p:spPr>
          <a:xfrm>
            <a:off x="8604504"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695944"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Readiness</a:t>
            </a:r>
          </a:p>
          <a:p>
            <a:pPr algn="ctr">
              <a:lnSpc>
                <a:spcPct val="105000"/>
              </a:lnSpc>
              <a:spcBef>
                <a:spcPts val="0"/>
              </a:spcBef>
              <a:spcAft>
                <a:spcPts val="0"/>
              </a:spcAft>
            </a:pPr>
            <a:r>
              <a:rPr sz="900" b="0" i="0">
                <a:solidFill>
                  <a:srgbClr val="BFBFBF"/>
                </a:solidFill>
                <a:latin typeface="Segoe UI"/>
              </a:rPr>
              <a:t>poll until staged</a:t>
            </a:r>
          </a:p>
        </p:txBody>
      </p:sp>
      <p:sp>
        <p:nvSpPr>
          <p:cNvPr id="28" name="Rounded Rectangle 27"/>
          <p:cNvSpPr/>
          <p:nvPr/>
        </p:nvSpPr>
        <p:spPr>
          <a:xfrm>
            <a:off x="9994392" y="3017520"/>
            <a:ext cx="1243584" cy="1280160"/>
          </a:xfrm>
          <a:prstGeom prst="roundRect">
            <a:avLst>
              <a:gd name="adj" fmla="val 8000"/>
            </a:avLst>
          </a:prstGeom>
          <a:solidFill>
            <a:srgbClr val="141414"/>
          </a:solidFill>
          <a:ln w="12700">
            <a:solidFill>
              <a:srgbClr val="3A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085832" y="3127248"/>
            <a:ext cx="1060704" cy="1060704"/>
          </a:xfrm>
          <a:prstGeom prst="rect">
            <a:avLst/>
          </a:prstGeom>
          <a:noFill/>
        </p:spPr>
        <p:txBody>
          <a:bodyPr wrap="square" anchor="ctr" lIns="0" rIns="0" tIns="0" bIns="0">
            <a:spAutoFit/>
          </a:bodyPr>
          <a:lstStyle/>
          <a:p>
            <a:pPr algn="ctr">
              <a:lnSpc>
                <a:spcPct val="100000"/>
              </a:lnSpc>
              <a:spcBef>
                <a:spcPts val="0"/>
              </a:spcBef>
              <a:spcAft>
                <a:spcPts val="300"/>
              </a:spcAft>
            </a:pPr>
            <a:r>
              <a:rPr sz="1250" b="1" i="0">
                <a:solidFill>
                  <a:srgbClr val="FFFFFF"/>
                </a:solidFill>
                <a:latin typeface="Segoe UI Semibold"/>
              </a:rPr>
              <a:t>Share link</a:t>
            </a:r>
          </a:p>
          <a:p>
            <a:pPr algn="ctr">
              <a:lnSpc>
                <a:spcPct val="105000"/>
              </a:lnSpc>
              <a:spcBef>
                <a:spcPts val="0"/>
              </a:spcBef>
              <a:spcAft>
                <a:spcPts val="0"/>
              </a:spcAft>
            </a:pPr>
            <a:r>
              <a:rPr sz="900" b="0" i="0">
                <a:solidFill>
                  <a:srgbClr val="BFBFBF"/>
                </a:solidFill>
                <a:latin typeface="Segoe UI"/>
              </a:rPr>
              <a:t>tester streams</a:t>
            </a:r>
          </a:p>
        </p:txBody>
      </p:sp>
      <p:sp>
        <p:nvSpPr>
          <p:cNvPr id="30" name="TextBox 29"/>
          <p:cNvSpPr txBox="1"/>
          <p:nvPr/>
        </p:nvSpPr>
        <p:spPr>
          <a:xfrm>
            <a:off x="822960" y="4754879"/>
            <a:ext cx="10545775" cy="457200"/>
          </a:xfrm>
          <a:prstGeom prst="rect">
            <a:avLst/>
          </a:prstGeom>
          <a:noFill/>
        </p:spPr>
        <p:txBody>
          <a:bodyPr wrap="square" anchor="t" lIns="0" rIns="0" tIns="0" bIns="0">
            <a:spAutoFit/>
          </a:bodyPr>
          <a:lstStyle/>
          <a:p>
            <a:pPr algn="ctr">
              <a:lnSpc>
                <a:spcPct val="110000"/>
              </a:lnSpc>
              <a:spcBef>
                <a:spcPts val="0"/>
              </a:spcBef>
              <a:spcAft>
                <a:spcPts val="0"/>
              </a:spcAft>
            </a:pPr>
            <a:r>
              <a:rPr sz="1500" b="1" i="0">
                <a:solidFill>
                  <a:srgbClr val="52B043"/>
                </a:solidFill>
                <a:latin typeface="Segoe UI"/>
              </a:rPr>
              <a:t>One publish</a:t>
            </a:r>
            <a:r>
              <a:rPr sz="1500" b="0" i="0">
                <a:solidFill>
                  <a:srgbClr val="BFBFBF"/>
                </a:solidFill>
                <a:latin typeface="Segoe UI"/>
              </a:rPr>
              <a:t> → one cross-cloud call → a </a:t>
            </a:r>
            <a:r>
              <a:rPr sz="1500" b="1" i="0">
                <a:solidFill>
                  <a:srgbClr val="52B043"/>
                </a:solidFill>
                <a:latin typeface="Segoe UI"/>
              </a:rPr>
              <a:t>private, invite-scoped stream</a:t>
            </a:r>
            <a:r>
              <a:rPr sz="1500" b="0" i="0">
                <a:solidFill>
                  <a:srgbClr val="BFBFBF"/>
                </a:solidFill>
                <a:latin typeface="Segoe UI"/>
              </a:rPr>
              <a:t>.</a:t>
            </a:r>
          </a:p>
        </p:txBody>
      </p:sp>
      <p:sp>
        <p:nvSpPr>
          <p:cNvPr id="31" name="Rectangle 30"/>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36" name="TextBox 35"/>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5</a:t>
            </a:r>
          </a:p>
        </p:txBody>
      </p:sp>
      <p:sp>
        <p:nvSpPr>
          <p:cNvPr id="37" name="Oval 36"/>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983833"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2313432"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MY CONTRIBUTION</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The payload builder</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1" i="0">
                <a:solidFill>
                  <a:srgbClr val="52B043"/>
                </a:solidFill>
                <a:latin typeface="Segoe UI"/>
              </a:rPr>
              <a:t>Assembling everything xCloud needs</a:t>
            </a:r>
            <a:r>
              <a:rPr sz="2100" b="0" i="0">
                <a:solidFill>
                  <a:srgbClr val="FFFFFF"/>
                </a:solidFill>
                <a:latin typeface="Segoe UI"/>
              </a:rPr>
              <a:t> to stream a build, from the publish snapshot</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Builds the payload from the publish snapshot: </a:t>
            </a:r>
            <a:r>
              <a:rPr sz="2000" b="1" i="0">
                <a:solidFill>
                  <a:srgbClr val="FFFFFF"/>
                </a:solidFill>
                <a:latin typeface="Segoe UI"/>
              </a:rPr>
              <a:t>StoreAsset</a:t>
            </a:r>
            <a:r>
              <a:rPr sz="2000" b="0" i="0">
                <a:solidFill>
                  <a:srgbClr val="BFBFBF"/>
                </a:solidFill>
                <a:latin typeface="Segoe UI"/>
              </a:rPr>
              <a:t>, </a:t>
            </a:r>
            <a:r>
              <a:rPr sz="2000" b="1" i="0">
                <a:solidFill>
                  <a:srgbClr val="FFFFFF"/>
                </a:solidFill>
                <a:latin typeface="Segoe UI"/>
              </a:rPr>
              <a:t>allowed DNA groups</a:t>
            </a:r>
            <a:r>
              <a:rPr sz="2000" b="0" i="0">
                <a:solidFill>
                  <a:srgbClr val="BFBFBF"/>
                </a:solidFill>
                <a:latin typeface="Segoe UI"/>
              </a:rPr>
              <a:t>, sandbox, bounded expiration</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Mints a </a:t>
            </a:r>
            <a:r>
              <a:rPr sz="2000" b="1" i="0">
                <a:solidFill>
                  <a:srgbClr val="FFFFFF"/>
                </a:solidFill>
                <a:latin typeface="Segoe UI"/>
              </a:rPr>
              <a:t>cross-tenant token</a:t>
            </a:r>
            <a:r>
              <a:rPr sz="2000" b="0" i="0">
                <a:solidFill>
                  <a:srgbClr val="BFBFBF"/>
                </a:solidFill>
                <a:latin typeface="Segoe UI"/>
              </a:rPr>
              <a:t> and fires the streaming ingest</a:t>
            </a:r>
          </a:p>
          <a:p>
            <a:pPr>
              <a:lnSpc>
                <a:spcPct val="105000"/>
              </a:lnSpc>
              <a:spcBef>
                <a:spcPts val="0"/>
              </a:spcBef>
              <a:spcAft>
                <a:spcPts val="1000"/>
              </a:spcAft>
            </a:pPr>
            <a:r>
              <a:rPr sz="2000" b="1">
                <a:solidFill>
                  <a:srgbClr val="52B043"/>
                </a:solidFill>
                <a:latin typeface="Segoe UI"/>
              </a:rPr>
              <a:t>▪  </a:t>
            </a:r>
            <a:r>
              <a:rPr sz="2000" b="1" i="0">
                <a:solidFill>
                  <a:srgbClr val="FFFFFF"/>
                </a:solidFill>
                <a:latin typeface="Segoe UI"/>
              </a:rPr>
              <a:t>Opt-in</a:t>
            </a:r>
            <a:r>
              <a:rPr sz="2000" b="0" i="0">
                <a:solidFill>
                  <a:srgbClr val="BFBFBF"/>
                </a:solidFill>
                <a:latin typeface="Segoe UI"/>
              </a:rPr>
              <a:t> (pilot seller) and </a:t>
            </a:r>
            <a:r>
              <a:rPr sz="2000" b="1" i="0">
                <a:solidFill>
                  <a:srgbClr val="FFFFFF"/>
                </a:solidFill>
                <a:latin typeface="Segoe UI"/>
              </a:rPr>
              <a:t>non-blocking</a:t>
            </a:r>
            <a:r>
              <a:rPr sz="2000" b="0" i="0">
                <a:solidFill>
                  <a:srgbClr val="BFBFBF"/>
                </a:solidFill>
                <a:latin typeface="Segoe UI"/>
              </a:rPr>
              <a:t> — never breaks the normal download publish</a:t>
            </a:r>
          </a:p>
        </p:txBody>
      </p:sp>
      <p:sp>
        <p:nvSpPr>
          <p:cNvPr id="6" name="Rectangle 5"/>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1" name="TextBox 10"/>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6</a:t>
            </a:r>
          </a:p>
        </p:txBody>
      </p:sp>
      <p:sp>
        <p:nvSpPr>
          <p:cNvPr id="12" name="Oval 11"/>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39281"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2434132"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THE HARD PROBLEM</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Making two clouds trust each other</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965960"/>
            <a:ext cx="10545775" cy="4160520"/>
          </a:xfrm>
          <a:prstGeom prst="rect">
            <a:avLst/>
          </a:prstGeom>
          <a:noFill/>
        </p:spPr>
        <p:txBody>
          <a:bodyPr wrap="square" anchor="t" lIns="0" rIns="0" tIns="0" bIns="0">
            <a:spAutoFit/>
          </a:bodyPr>
          <a:lstStyle/>
          <a:p>
            <a:pPr>
              <a:lnSpc>
                <a:spcPct val="110000"/>
              </a:lnSpc>
              <a:spcBef>
                <a:spcPts val="0"/>
              </a:spcBef>
              <a:spcAft>
                <a:spcPts val="1400"/>
              </a:spcAft>
            </a:pPr>
            <a:r>
              <a:rPr sz="2100" b="0" i="0">
                <a:solidFill>
                  <a:srgbClr val="FFFFFF"/>
                </a:solidFill>
                <a:latin typeface="Segoe UI"/>
              </a:rPr>
              <a:t>The send crosses an org boundary: </a:t>
            </a:r>
            <a:r>
              <a:rPr sz="2100" b="1" i="0">
                <a:solidFill>
                  <a:srgbClr val="52B043"/>
                </a:solidFill>
                <a:latin typeface="Segoe UI"/>
              </a:rPr>
              <a:t>MSFT Green → Corp</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Green mints a </a:t>
            </a:r>
            <a:r>
              <a:rPr sz="2000" b="1" i="0">
                <a:solidFill>
                  <a:srgbClr val="FFFFFF"/>
                </a:solidFill>
                <a:latin typeface="Segoe UI"/>
              </a:rPr>
              <a:t>v1.0 token</a:t>
            </a:r>
            <a:r>
              <a:rPr sz="2000" b="0" i="0">
                <a:solidFill>
                  <a:srgbClr val="BFBFBF"/>
                </a:solidFill>
                <a:latin typeface="Segoe UI"/>
              </a:rPr>
              <a:t> whose audience is a </a:t>
            </a:r>
            <a:r>
              <a:rPr sz="2000" b="1" i="0">
                <a:solidFill>
                  <a:srgbClr val="FFFFFF"/>
                </a:solidFill>
                <a:latin typeface="Segoe UI"/>
              </a:rPr>
              <a:t>bare app-id GUID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The receiver rejected it — “audience (null) is invalid”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I traced it end-to-end and made ingestion </a:t>
            </a:r>
            <a:r>
              <a:rPr sz="2000" b="1" i="0">
                <a:solidFill>
                  <a:srgbClr val="FFFFFF"/>
                </a:solidFill>
                <a:latin typeface="Segoe UI"/>
              </a:rPr>
              <a:t>accept the bare-GUID audience</a:t>
            </a:r>
            <a:r>
              <a:rPr sz="2000" b="0" i="0">
                <a:solidFill>
                  <a:srgbClr val="BFBFBF"/>
                </a:solidFill>
                <a:latin typeface="Segoe UI"/>
              </a:rPr>
              <a:t> — auth </a:t>
            </a:r>
            <a:r>
              <a:rPr sz="2000" b="1" i="0">
                <a:solidFill>
                  <a:srgbClr val="FFFFFF"/>
                </a:solidFill>
                <a:latin typeface="Segoe UI"/>
              </a:rPr>
              <a:t>and</a:t>
            </a:r>
            <a:r>
              <a:rPr sz="2000" b="0" i="0">
                <a:solidFill>
                  <a:srgbClr val="BFBFBF"/>
                </a:solidFill>
                <a:latin typeface="Segoe UI"/>
              </a:rPr>
              <a:t> authz passed</a:t>
            </a:r>
          </a:p>
        </p:txBody>
      </p:sp>
      <p:sp>
        <p:nvSpPr>
          <p:cNvPr id="6" name="Rectangle 5"/>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1" name="TextBox 10"/>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7</a:t>
            </a:r>
          </a:p>
        </p:txBody>
      </p:sp>
      <p:sp>
        <p:nvSpPr>
          <p:cNvPr id="12" name="Oval 11"/>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94729"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985723"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DEMO</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Publish → cross-cloud ingest → live offering</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600807" y="1874519"/>
            <a:ext cx="6990079" cy="3931920"/>
          </a:xfrm>
          <a:prstGeom prst="rect">
            <a:avLst/>
          </a:prstGeom>
          <a:solidFill>
            <a:srgbClr val="141414"/>
          </a:solidFill>
          <a:ln w="19050">
            <a:solidFill>
              <a:srgbClr val="107C1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600807" y="1874519"/>
            <a:ext cx="6990079" cy="3931920"/>
          </a:xfrm>
          <a:prstGeom prst="rect">
            <a:avLst/>
          </a:prstGeom>
          <a:noFill/>
        </p:spPr>
        <p:txBody>
          <a:bodyPr wrap="square" anchor="ctr" lIns="0" rIns="0" tIns="0" bIns="0">
            <a:spAutoFit/>
          </a:bodyPr>
          <a:lstStyle/>
          <a:p>
            <a:pPr algn="ctr">
              <a:lnSpc>
                <a:spcPct val="100000"/>
              </a:lnSpc>
              <a:spcBef>
                <a:spcPts val="0"/>
              </a:spcBef>
              <a:spcAft>
                <a:spcPts val="600"/>
              </a:spcAft>
            </a:pPr>
            <a:r>
              <a:rPr sz="5400" b="1" i="0">
                <a:solidFill>
                  <a:srgbClr val="52B043"/>
                </a:solidFill>
                <a:latin typeface="Segoe UI Semibold"/>
              </a:rPr>
              <a:t>▶</a:t>
            </a:r>
          </a:p>
          <a:p>
            <a:pPr algn="ctr">
              <a:lnSpc>
                <a:spcPct val="100000"/>
              </a:lnSpc>
              <a:spcBef>
                <a:spcPts val="0"/>
              </a:spcBef>
              <a:spcAft>
                <a:spcPts val="400"/>
              </a:spcAft>
            </a:pPr>
            <a:r>
              <a:rPr sz="2400" b="1" i="0">
                <a:solidFill>
                  <a:srgbClr val="FFFFFF"/>
                </a:solidFill>
                <a:latin typeface="Segoe UI Semibold"/>
              </a:rPr>
              <a:t>Recorded end-to-end demo</a:t>
            </a:r>
          </a:p>
          <a:p>
            <a:pPr algn="ctr">
              <a:lnSpc>
                <a:spcPct val="100000"/>
              </a:lnSpc>
              <a:spcBef>
                <a:spcPts val="0"/>
              </a:spcBef>
              <a:spcAft>
                <a:spcPts val="0"/>
              </a:spcAft>
            </a:pPr>
            <a:r>
              <a:rPr sz="1300" b="0" i="0">
                <a:solidFill>
                  <a:srgbClr val="808080"/>
                </a:solidFill>
                <a:latin typeface="Segoe UI"/>
              </a:rPr>
              <a:t>Drop your recording in  XPD-Demo\Demo\  and re-run build_deck.py to embed it.</a:t>
            </a:r>
          </a:p>
        </p:txBody>
      </p:sp>
      <p:sp>
        <p:nvSpPr>
          <p:cNvPr id="7" name="TextBox 6"/>
          <p:cNvSpPr txBox="1"/>
          <p:nvPr/>
        </p:nvSpPr>
        <p:spPr>
          <a:xfrm>
            <a:off x="822960" y="5870448"/>
            <a:ext cx="10545775" cy="457200"/>
          </a:xfrm>
          <a:prstGeom prst="rect">
            <a:avLst/>
          </a:prstGeom>
          <a:noFill/>
        </p:spPr>
        <p:txBody>
          <a:bodyPr wrap="square" anchor="t" lIns="0" rIns="0" tIns="0" bIns="0">
            <a:spAutoFit/>
          </a:bodyPr>
          <a:lstStyle/>
          <a:p>
            <a:pPr algn="ctr">
              <a:lnSpc>
                <a:spcPct val="100000"/>
              </a:lnSpc>
              <a:spcBef>
                <a:spcPts val="0"/>
              </a:spcBef>
              <a:spcAft>
                <a:spcPts val="0"/>
              </a:spcAft>
            </a:pPr>
            <a:r>
              <a:rPr sz="1400" b="1" i="0">
                <a:solidFill>
                  <a:srgbClr val="52B043"/>
                </a:solidFill>
                <a:latin typeface="Segoe UI"/>
              </a:rPr>
              <a:t>1</a:t>
            </a:r>
            <a:r>
              <a:rPr sz="1400" b="0" i="0">
                <a:solidFill>
                  <a:srgbClr val="BFBFBF"/>
                </a:solidFill>
                <a:latin typeface="Segoe UI"/>
              </a:rPr>
              <a:t> opt in &amp; publish   ·   </a:t>
            </a:r>
            <a:r>
              <a:rPr sz="1400" b="1" i="0">
                <a:solidFill>
                  <a:srgbClr val="52B043"/>
                </a:solidFill>
                <a:latin typeface="Segoe UI"/>
              </a:rPr>
              <a:t>2</a:t>
            </a:r>
            <a:r>
              <a:rPr sz="1400" b="0" i="0">
                <a:solidFill>
                  <a:srgbClr val="BFBFBF"/>
                </a:solidFill>
                <a:latin typeface="Segoe UI"/>
              </a:rPr>
              <a:t> backend threads it across two clouds (Green→Corp)   ·   </a:t>
            </a:r>
            <a:r>
              <a:rPr sz="1400" b="1" i="0">
                <a:solidFill>
                  <a:srgbClr val="52B043"/>
                </a:solidFill>
                <a:latin typeface="Segoe UI"/>
              </a:rPr>
              <a:t>3</a:t>
            </a:r>
            <a:r>
              <a:rPr sz="1400" b="0" i="0">
                <a:solidFill>
                  <a:srgbClr val="BFBFBF"/>
                </a:solidFill>
                <a:latin typeface="Segoe UI"/>
              </a:rPr>
              <a:t> a private streaming offering, </a:t>
            </a:r>
            <a:r>
              <a:rPr sz="1400" b="1" i="0">
                <a:solidFill>
                  <a:srgbClr val="52B043"/>
                </a:solidFill>
                <a:latin typeface="Segoe UI"/>
              </a:rPr>
              <a:t>live in prod</a:t>
            </a:r>
            <a:r>
              <a:rPr sz="1400" b="0" i="0">
                <a:solidFill>
                  <a:srgbClr val="BFBFBF"/>
                </a:solidFill>
                <a:latin typeface="Segoe UI"/>
              </a:rPr>
              <a:t>   —   *goal: stream in seconds*</a:t>
            </a:r>
          </a:p>
        </p:txBody>
      </p:sp>
      <p:sp>
        <p:nvSpPr>
          <p:cNvPr id="8" name="Rectangle 7"/>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3" name="TextBox 12"/>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8</a:t>
            </a:r>
          </a:p>
        </p:txBody>
      </p:sp>
      <p:sp>
        <p:nvSpPr>
          <p:cNvPr id="14" name="Oval 13"/>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50177"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2434132"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WHAT I DELIVERED</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What's shipped</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783080"/>
            <a:ext cx="10545775" cy="4343400"/>
          </a:xfrm>
          <a:prstGeom prst="rect">
            <a:avLst/>
          </a:prstGeom>
          <a:noFill/>
        </p:spPr>
        <p:txBody>
          <a:bodyPr wrap="square" anchor="t" lIns="0" rIns="0" tIns="0" bIns="0">
            <a:spAutoFit/>
          </a:bodyPr>
          <a:lstStyle/>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Private streaming offering created per playtest</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Audience scoped to invited DNA groups</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New build ingested into streaming on publish</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Seller flighting to limit blast radius</a:t>
            </a:r>
          </a:p>
          <a:p>
            <a:pPr>
              <a:lnSpc>
                <a:spcPct val="105000"/>
              </a:lnSpc>
              <a:spcBef>
                <a:spcPts val="0"/>
              </a:spcBef>
              <a:spcAft>
                <a:spcPts val="1100"/>
              </a:spcAft>
            </a:pPr>
            <a:r>
              <a:rPr sz="2000" b="1">
                <a:solidFill>
                  <a:srgbClr val="52B043"/>
                </a:solidFill>
                <a:latin typeface="Segoe UI"/>
              </a:rPr>
              <a:t>✓  </a:t>
            </a:r>
            <a:r>
              <a:rPr sz="2000" b="0" i="0">
                <a:solidFill>
                  <a:srgbClr val="FFFFFF"/>
                </a:solidFill>
                <a:latin typeface="Segoe UI"/>
              </a:rPr>
              <a:t>Shareable-stream backend</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Shipped across </a:t>
            </a:r>
            <a:r>
              <a:rPr sz="2000" b="1" i="0">
                <a:solidFill>
                  <a:srgbClr val="FFFFFF"/>
                </a:solidFill>
                <a:latin typeface="Segoe UI"/>
              </a:rPr>
              <a:t>~13 services</a:t>
            </a:r>
            <a:r>
              <a:rPr sz="2000" b="0" i="0">
                <a:solidFill>
                  <a:srgbClr val="BFBFBF"/>
                </a:solidFill>
                <a:latin typeface="Segoe UI"/>
              </a:rPr>
              <a:t> in </a:t>
            </a:r>
            <a:r>
              <a:rPr sz="2000" b="1" i="0">
                <a:solidFill>
                  <a:srgbClr val="FFFFFF"/>
                </a:solidFill>
                <a:latin typeface="Segoe UI"/>
              </a:rPr>
              <a:t>two orgs</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Backend spine in </a:t>
            </a:r>
            <a:r>
              <a:rPr sz="2000" b="1" i="0">
                <a:solidFill>
                  <a:srgbClr val="FFFFFF"/>
                </a:solidFill>
                <a:latin typeface="Segoe UI"/>
              </a:rPr>
              <a:t>main</a:t>
            </a:r>
            <a:r>
              <a:rPr sz="2000" b="0" i="0">
                <a:solidFill>
                  <a:srgbClr val="BFBFBF"/>
                </a:solidFill>
                <a:latin typeface="Segoe UI"/>
              </a:rPr>
              <a:t> and </a:t>
            </a:r>
            <a:r>
              <a:rPr sz="2000" b="1" i="0">
                <a:solidFill>
                  <a:srgbClr val="FFFFFF"/>
                </a:solidFill>
                <a:latin typeface="Segoe UI"/>
              </a:rPr>
              <a:t>deployed to prod</a:t>
            </a:r>
            <a:r>
              <a:rPr sz="2000" b="0" i="0">
                <a:solidFill>
                  <a:srgbClr val="BFBFBF"/>
                </a:solidFill>
                <a:latin typeface="Segoe UI"/>
              </a:rPr>
              <a:t> — a pilot-seller publish fires the full Green→SAGE→ingest call</a:t>
            </a:r>
          </a:p>
          <a:p>
            <a:pPr>
              <a:lnSpc>
                <a:spcPct val="105000"/>
              </a:lnSpc>
              <a:spcBef>
                <a:spcPts val="0"/>
              </a:spcBef>
              <a:spcAft>
                <a:spcPts val="1000"/>
              </a:spcAft>
            </a:pPr>
            <a:r>
              <a:rPr sz="2000" b="1">
                <a:solidFill>
                  <a:srgbClr val="52B043"/>
                </a:solidFill>
                <a:latin typeface="Segoe UI"/>
              </a:rPr>
              <a:t>▪  </a:t>
            </a:r>
            <a:r>
              <a:rPr sz="2000" b="0" i="0">
                <a:solidFill>
                  <a:srgbClr val="BFBFBF"/>
                </a:solidFill>
                <a:latin typeface="Segoe UI"/>
              </a:rPr>
              <a:t>Next: the two </a:t>
            </a:r>
            <a:r>
              <a:rPr sz="2000" b="1" i="0">
                <a:solidFill>
                  <a:srgbClr val="FFFFFF"/>
                </a:solidFill>
                <a:latin typeface="Segoe UI"/>
              </a:rPr>
              <a:t>front ends</a:t>
            </a:r>
            <a:r>
              <a:rPr sz="2000" b="0" i="0">
                <a:solidFill>
                  <a:srgbClr val="BFBFBF"/>
                </a:solidFill>
                <a:latin typeface="Segoe UI"/>
              </a:rPr>
              <a:t> (creator toggle + tester landing)</a:t>
            </a:r>
          </a:p>
        </p:txBody>
      </p:sp>
      <p:sp>
        <p:nvSpPr>
          <p:cNvPr id="6" name="Rectangle 5"/>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1" name="TextBox 10"/>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9</a:t>
            </a:r>
          </a:p>
        </p:txBody>
      </p:sp>
      <p:sp>
        <p:nvSpPr>
          <p:cNvPr id="12" name="Oval 11"/>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605625"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6107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522415" y="1920239"/>
            <a:ext cx="5486400" cy="4572000"/>
          </a:xfrm>
          <a:prstGeom prst="rect">
            <a:avLst/>
          </a:prstGeom>
          <a:noFill/>
        </p:spPr>
        <p:txBody>
          <a:bodyPr wrap="square" anchor="t" lIns="0" rIns="0" tIns="0" bIns="0">
            <a:spAutoFit/>
          </a:bodyPr>
          <a:lstStyle/>
          <a:p>
            <a:pPr algn="r">
              <a:lnSpc>
                <a:spcPct val="100000"/>
              </a:lnSpc>
              <a:spcBef>
                <a:spcPts val="0"/>
              </a:spcBef>
              <a:spcAft>
                <a:spcPts val="0"/>
              </a:spcAft>
            </a:pPr>
            <a:r>
              <a:rPr sz="30000" b="1" i="0">
                <a:solidFill>
                  <a:srgbClr val="121212"/>
                </a:solidFill>
                <a:latin typeface="Segoe UI Semibold"/>
              </a:rPr>
              <a:t>▶</a:t>
            </a:r>
          </a:p>
        </p:txBody>
      </p:sp>
      <p:sp>
        <p:nvSpPr>
          <p:cNvPr id="3" name="Rectangle 2"/>
          <p:cNvSpPr/>
          <p:nvPr/>
        </p:nvSpPr>
        <p:spPr>
          <a:xfrm>
            <a:off x="822960" y="1234440"/>
            <a:ext cx="2194560" cy="82296"/>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10545775" cy="1097280"/>
          </a:xfrm>
          <a:prstGeom prst="rect">
            <a:avLst/>
          </a:prstGeom>
          <a:noFill/>
        </p:spPr>
        <p:txBody>
          <a:bodyPr wrap="square" anchor="t" lIns="0" rIns="0" tIns="0" bIns="0">
            <a:spAutoFit/>
          </a:bodyPr>
          <a:lstStyle/>
          <a:p>
            <a:pPr>
              <a:lnSpc>
                <a:spcPct val="100000"/>
              </a:lnSpc>
              <a:spcBef>
                <a:spcPts val="0"/>
              </a:spcBef>
              <a:spcAft>
                <a:spcPts val="0"/>
              </a:spcAft>
            </a:pPr>
            <a:r>
              <a:rPr sz="4800" b="1" i="0">
                <a:solidFill>
                  <a:srgbClr val="FFFFFF"/>
                </a:solidFill>
                <a:latin typeface="Segoe UI Semibold"/>
              </a:rPr>
              <a:t>Thanks — questions?</a:t>
            </a:r>
          </a:p>
        </p:txBody>
      </p:sp>
      <p:sp>
        <p:nvSpPr>
          <p:cNvPr id="5" name="TextBox 4"/>
          <p:cNvSpPr txBox="1"/>
          <p:nvPr/>
        </p:nvSpPr>
        <p:spPr>
          <a:xfrm>
            <a:off x="822960" y="2880360"/>
            <a:ext cx="10545775" cy="2194560"/>
          </a:xfrm>
          <a:prstGeom prst="rect">
            <a:avLst/>
          </a:prstGeom>
          <a:noFill/>
        </p:spPr>
        <p:txBody>
          <a:bodyPr wrap="square" anchor="t" lIns="0" rIns="0" tIns="0" bIns="0">
            <a:spAutoFit/>
          </a:bodyPr>
          <a:lstStyle/>
          <a:p>
            <a:pPr>
              <a:lnSpc>
                <a:spcPct val="110000"/>
              </a:lnSpc>
              <a:spcBef>
                <a:spcPts val="0"/>
              </a:spcBef>
              <a:spcAft>
                <a:spcPts val="1000"/>
              </a:spcAft>
            </a:pPr>
            <a:r>
              <a:rPr sz="1900" b="0" i="0">
                <a:solidFill>
                  <a:srgbClr val="BFBFBF"/>
                </a:solidFill>
                <a:latin typeface="Segoe UI"/>
              </a:rPr>
              <a:t>Mentor </a:t>
            </a:r>
            <a:r>
              <a:rPr sz="1900" b="1" i="0">
                <a:solidFill>
                  <a:srgbClr val="FFFFFF"/>
                </a:solidFill>
                <a:latin typeface="Segoe UI"/>
              </a:rPr>
              <a:t>Emma Park</a:t>
            </a:r>
            <a:r>
              <a:rPr sz="1900" b="0" i="0">
                <a:solidFill>
                  <a:srgbClr val="BFBFBF"/>
                </a:solidFill>
                <a:latin typeface="Segoe UI"/>
              </a:rPr>
              <a:t>  ·  Manager </a:t>
            </a:r>
            <a:r>
              <a:rPr sz="1900" b="1" i="0">
                <a:solidFill>
                  <a:srgbClr val="FFFFFF"/>
                </a:solidFill>
                <a:latin typeface="Segoe UI"/>
              </a:rPr>
              <a:t>Brian Bowman</a:t>
            </a:r>
          </a:p>
          <a:p>
            <a:pPr>
              <a:lnSpc>
                <a:spcPct val="110000"/>
              </a:lnSpc>
              <a:spcBef>
                <a:spcPts val="0"/>
              </a:spcBef>
              <a:spcAft>
                <a:spcPts val="1000"/>
              </a:spcAft>
            </a:pPr>
            <a:r>
              <a:rPr sz="1900" b="0" i="0">
                <a:solidFill>
                  <a:srgbClr val="BFBFBF"/>
                </a:solidFill>
                <a:latin typeface="Segoe UI"/>
              </a:rPr>
              <a:t>Feature leads </a:t>
            </a:r>
            <a:r>
              <a:rPr sz="1900" b="1" i="0">
                <a:solidFill>
                  <a:srgbClr val="FFFFFF"/>
                </a:solidFill>
                <a:latin typeface="Segoe UI"/>
              </a:rPr>
              <a:t>David Kushmerick</a:t>
            </a:r>
            <a:r>
              <a:rPr sz="1900" b="0" i="0">
                <a:solidFill>
                  <a:srgbClr val="BFBFBF"/>
                </a:solidFill>
                <a:latin typeface="Segoe UI"/>
              </a:rPr>
              <a:t> &amp; </a:t>
            </a:r>
            <a:r>
              <a:rPr sz="1900" b="1" i="0">
                <a:solidFill>
                  <a:srgbClr val="FFFFFF"/>
                </a:solidFill>
                <a:latin typeface="Segoe UI"/>
              </a:rPr>
              <a:t>Bec Lyons</a:t>
            </a:r>
            <a:r>
              <a:rPr sz="1900" b="0" i="0">
                <a:solidFill>
                  <a:srgbClr val="BFBFBF"/>
                </a:solidFill>
                <a:latin typeface="Segoe UI"/>
              </a:rPr>
              <a:t>  ·  the </a:t>
            </a:r>
            <a:r>
              <a:rPr sz="1900" b="1" i="0">
                <a:solidFill>
                  <a:srgbClr val="FFFFFF"/>
                </a:solidFill>
                <a:latin typeface="Segoe UI"/>
              </a:rPr>
              <a:t>Juno</a:t>
            </a:r>
            <a:r>
              <a:rPr sz="1900" b="0" i="0">
                <a:solidFill>
                  <a:srgbClr val="BFBFBF"/>
                </a:solidFill>
                <a:latin typeface="Segoe UI"/>
              </a:rPr>
              <a:t>, </a:t>
            </a:r>
            <a:r>
              <a:rPr sz="1900" b="1" i="0">
                <a:solidFill>
                  <a:srgbClr val="FFFFFF"/>
                </a:solidFill>
                <a:latin typeface="Segoe UI"/>
              </a:rPr>
              <a:t>xPlaytest</a:t>
            </a:r>
            <a:r>
              <a:rPr sz="1900" b="0" i="0">
                <a:solidFill>
                  <a:srgbClr val="BFBFBF"/>
                </a:solidFill>
                <a:latin typeface="Segoe UI"/>
              </a:rPr>
              <a:t> &amp; </a:t>
            </a:r>
            <a:r>
              <a:rPr sz="1900" b="1" i="0">
                <a:solidFill>
                  <a:srgbClr val="FFFFFF"/>
                </a:solidFill>
                <a:latin typeface="Segoe UI"/>
              </a:rPr>
              <a:t>GSSV</a:t>
            </a:r>
            <a:r>
              <a:rPr sz="1900" b="0" i="0">
                <a:solidFill>
                  <a:srgbClr val="BFBFBF"/>
                </a:solidFill>
                <a:latin typeface="Segoe UI"/>
              </a:rPr>
              <a:t> teams</a:t>
            </a:r>
          </a:p>
          <a:p>
            <a:pPr>
              <a:lnSpc>
                <a:spcPct val="110000"/>
              </a:lnSpc>
              <a:spcBef>
                <a:spcPts val="0"/>
              </a:spcBef>
              <a:spcAft>
                <a:spcPts val="1000"/>
              </a:spcAft>
            </a:pPr>
            <a:r>
              <a:rPr sz="1900" b="1" i="0">
                <a:solidFill>
                  <a:srgbClr val="FFFFFF"/>
                </a:solidFill>
                <a:latin typeface="Segoe UI"/>
              </a:rPr>
              <a:t>What's next:</a:t>
            </a:r>
            <a:r>
              <a:rPr sz="1900" b="0" i="0">
                <a:solidFill>
                  <a:srgbClr val="BFBFBF"/>
                </a:solidFill>
                <a:latin typeface="Segoe UI"/>
              </a:rPr>
              <a:t> the two front ends — the creator's </a:t>
            </a:r>
            <a:r>
              <a:rPr sz="1900" b="1" i="0">
                <a:solidFill>
                  <a:srgbClr val="FFFFFF"/>
                </a:solidFill>
                <a:latin typeface="Segoe UI"/>
              </a:rPr>
              <a:t>share link</a:t>
            </a:r>
            <a:r>
              <a:rPr sz="1900" b="0" i="0">
                <a:solidFill>
                  <a:srgbClr val="BFBFBF"/>
                </a:solidFill>
                <a:latin typeface="Segoe UI"/>
              </a:rPr>
              <a:t> + the </a:t>
            </a:r>
            <a:r>
              <a:rPr sz="1900" b="1" i="0">
                <a:solidFill>
                  <a:srgbClr val="FFFFFF"/>
                </a:solidFill>
                <a:latin typeface="Segoe UI"/>
              </a:rPr>
              <a:t>Bayside tester experience</a:t>
            </a:r>
            <a:r>
              <a:rPr sz="1900" b="0" i="0">
                <a:solidFill>
                  <a:srgbClr val="BFBFBF"/>
                </a:solidFill>
                <a:latin typeface="Segoe UI"/>
              </a:rPr>
              <a:t> (log in first, then metadata + stream)</a:t>
            </a:r>
          </a:p>
          <a:p>
            <a:pPr>
              <a:lnSpc>
                <a:spcPct val="110000"/>
              </a:lnSpc>
              <a:spcBef>
                <a:spcPts val="0"/>
              </a:spcBef>
              <a:spcAft>
                <a:spcPts val="1000"/>
              </a:spcAft>
            </a:pPr>
            <a:r>
              <a:rPr sz="1900" b="1" i="0">
                <a:solidFill>
                  <a:srgbClr val="FFFFFF"/>
                </a:solidFill>
                <a:latin typeface="Segoe UI"/>
              </a:rPr>
              <a:t>Then:</a:t>
            </a:r>
            <a:r>
              <a:rPr sz="1900" b="0" i="0">
                <a:solidFill>
                  <a:srgbClr val="BFBFBF"/>
                </a:solidFill>
                <a:latin typeface="Segoe UI"/>
              </a:rPr>
              <a:t> playtester </a:t>
            </a:r>
            <a:r>
              <a:rPr sz="1900" b="1" i="0">
                <a:solidFill>
                  <a:srgbClr val="FFFFFF"/>
                </a:solidFill>
                <a:latin typeface="Segoe UI"/>
              </a:rPr>
              <a:t>feedback</a:t>
            </a:r>
            <a:r>
              <a:rPr sz="1900" b="0" i="0">
                <a:solidFill>
                  <a:srgbClr val="BFBFBF"/>
                </a:solidFill>
                <a:latin typeface="Segoe UI"/>
              </a:rPr>
              <a:t> to the studio  ·  </a:t>
            </a:r>
            <a:r>
              <a:rPr sz="1900" b="1" i="0">
                <a:solidFill>
                  <a:srgbClr val="FFFFFF"/>
                </a:solidFill>
                <a:latin typeface="Segoe UI"/>
              </a:rPr>
              <a:t>launch args</a:t>
            </a:r>
            <a:r>
              <a:rPr sz="1900" b="0" i="0">
                <a:solidFill>
                  <a:srgbClr val="BFBFBF"/>
                </a:solidFill>
                <a:latin typeface="Segoe UI"/>
              </a:rPr>
              <a:t>, </a:t>
            </a:r>
            <a:r>
              <a:rPr sz="1900" b="1" i="0">
                <a:solidFill>
                  <a:srgbClr val="FFFFFF"/>
                </a:solidFill>
                <a:latin typeface="Segoe UI"/>
              </a:rPr>
              <a:t>streaming region / touch controls</a:t>
            </a:r>
            <a:r>
              <a:rPr sz="1900" b="0" i="0">
                <a:solidFill>
                  <a:srgbClr val="BFBFBF"/>
                </a:solidFill>
                <a:latin typeface="Segoe UI"/>
              </a:rPr>
              <a:t>, </a:t>
            </a:r>
            <a:r>
              <a:rPr sz="1900" b="1" i="0">
                <a:solidFill>
                  <a:srgbClr val="FFFFFF"/>
                </a:solidFill>
                <a:latin typeface="Segoe UI"/>
              </a:rPr>
              <a:t>console</a:t>
            </a:r>
            <a:r>
              <a:rPr sz="1900" b="0" i="0">
                <a:solidFill>
                  <a:srgbClr val="BFBFBF"/>
                </a:solidFill>
                <a:latin typeface="Segoe UI"/>
              </a:rPr>
              <a:t> support</a:t>
            </a:r>
          </a:p>
        </p:txBody>
      </p:sp>
      <p:sp>
        <p:nvSpPr>
          <p:cNvPr id="6" name="TextBox 5"/>
          <p:cNvSpPr txBox="1"/>
          <p:nvPr/>
        </p:nvSpPr>
        <p:spPr>
          <a:xfrm>
            <a:off x="822960" y="5440680"/>
            <a:ext cx="10545775" cy="731520"/>
          </a:xfrm>
          <a:prstGeom prst="rect">
            <a:avLst/>
          </a:prstGeom>
          <a:noFill/>
        </p:spPr>
        <p:txBody>
          <a:bodyPr wrap="square" anchor="t" lIns="0" rIns="0" tIns="0" bIns="0">
            <a:spAutoFit/>
          </a:bodyPr>
          <a:lstStyle/>
          <a:p>
            <a:pPr>
              <a:lnSpc>
                <a:spcPct val="100000"/>
              </a:lnSpc>
              <a:spcBef>
                <a:spcPts val="0"/>
              </a:spcBef>
              <a:spcAft>
                <a:spcPts val="0"/>
              </a:spcAft>
            </a:pPr>
            <a:r>
              <a:rPr sz="3000" b="1" i="0">
                <a:solidFill>
                  <a:srgbClr val="52B043"/>
                </a:solidFill>
                <a:latin typeface="Segoe UI Semibold"/>
              </a:rPr>
              <a:t>Questions?</a:t>
            </a:r>
          </a:p>
        </p:txBody>
      </p:sp>
      <p:sp>
        <p:nvSpPr>
          <p:cNvPr id="7" name="Rectangle 6"/>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2" name="TextBox 11"/>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10</a:t>
            </a:r>
          </a:p>
        </p:txBody>
      </p:sp>
      <p:sp>
        <p:nvSpPr>
          <p:cNvPr id="13" name="Oval 12"/>
          <p:cNvSpPr/>
          <p:nvPr/>
        </p:nvSpPr>
        <p:spPr>
          <a:xfrm>
            <a:off x="536204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51748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7293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2838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983833"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139281"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94729"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50177"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05625" y="6565392"/>
            <a:ext cx="68580" cy="68580"/>
          </a:xfrm>
          <a:prstGeom prst="ellipse">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761073" y="6565392"/>
            <a:ext cx="68580" cy="68580"/>
          </a:xfrm>
          <a:prstGeom prst="ellipse">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ounded Rectangle 1"/>
          <p:cNvSpPr/>
          <p:nvPr/>
        </p:nvSpPr>
        <p:spPr>
          <a:xfrm>
            <a:off x="822960" y="566928"/>
            <a:ext cx="1468526" cy="329184"/>
          </a:xfrm>
          <a:prstGeom prst="roundRect">
            <a:avLst>
              <a:gd name="adj" fmla="val 50000"/>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50800" rIns="50800" tIns="0" bIns="0"/>
          <a:lstStyle/>
          <a:p>
            <a:pPr algn="ctr"/>
            <a:r>
              <a:rPr sz="1250" b="1">
                <a:solidFill>
                  <a:srgbClr val="06120A"/>
                </a:solidFill>
                <a:latin typeface="Segoe UI"/>
              </a:rPr>
              <a:t>APPENDIX</a:t>
            </a:r>
          </a:p>
        </p:txBody>
      </p:sp>
      <p:sp>
        <p:nvSpPr>
          <p:cNvPr id="3" name="TextBox 2"/>
          <p:cNvSpPr txBox="1"/>
          <p:nvPr/>
        </p:nvSpPr>
        <p:spPr>
          <a:xfrm>
            <a:off x="822960" y="987552"/>
            <a:ext cx="10545775" cy="914400"/>
          </a:xfrm>
          <a:prstGeom prst="rect">
            <a:avLst/>
          </a:prstGeom>
          <a:noFill/>
        </p:spPr>
        <p:txBody>
          <a:bodyPr wrap="square" anchor="t" lIns="0" rIns="0" tIns="0" bIns="0">
            <a:spAutoFit/>
          </a:bodyPr>
          <a:lstStyle/>
          <a:p>
            <a:pPr>
              <a:lnSpc>
                <a:spcPct val="100000"/>
              </a:lnSpc>
              <a:spcBef>
                <a:spcPts val="0"/>
              </a:spcBef>
              <a:spcAft>
                <a:spcPts val="0"/>
              </a:spcAft>
            </a:pPr>
            <a:r>
              <a:rPr sz="3400" b="1" i="0">
                <a:solidFill>
                  <a:srgbClr val="FFFFFF"/>
                </a:solidFill>
                <a:latin typeface="Segoe UI Semibold"/>
              </a:rPr>
              <a:t>Detailed architecture</a:t>
            </a:r>
          </a:p>
        </p:txBody>
      </p:sp>
      <p:sp>
        <p:nvSpPr>
          <p:cNvPr id="4" name="Rectangle 3"/>
          <p:cNvSpPr/>
          <p:nvPr/>
        </p:nvSpPr>
        <p:spPr>
          <a:xfrm>
            <a:off x="822960" y="1719072"/>
            <a:ext cx="1371600" cy="50292"/>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xplaytest_diagram_scaled.png"/>
          <p:cNvPicPr>
            <a:picLocks noChangeAspect="1"/>
          </p:cNvPicPr>
          <p:nvPr/>
        </p:nvPicPr>
        <p:blipFill>
          <a:blip r:embed="rId2"/>
          <a:stretch>
            <a:fillRect/>
          </a:stretch>
        </p:blipFill>
        <p:spPr>
          <a:xfrm>
            <a:off x="3030687" y="1874519"/>
            <a:ext cx="6130321" cy="3931920"/>
          </a:xfrm>
          <a:prstGeom prst="rect">
            <a:avLst/>
          </a:prstGeom>
          <a:ln w="19050">
            <a:solidFill>
              <a:srgbClr val="52B043"/>
            </a:solidFill>
          </a:ln>
        </p:spPr>
      </p:pic>
      <p:sp>
        <p:nvSpPr>
          <p:cNvPr id="6" name="TextBox 5"/>
          <p:cNvSpPr txBox="1"/>
          <p:nvPr/>
        </p:nvSpPr>
        <p:spPr>
          <a:xfrm>
            <a:off x="822960" y="5870448"/>
            <a:ext cx="10545775" cy="457200"/>
          </a:xfrm>
          <a:prstGeom prst="rect">
            <a:avLst/>
          </a:prstGeom>
          <a:noFill/>
        </p:spPr>
        <p:txBody>
          <a:bodyPr wrap="square" anchor="t" lIns="0" rIns="0" tIns="0" bIns="0">
            <a:spAutoFit/>
          </a:bodyPr>
          <a:lstStyle/>
          <a:p>
            <a:pPr algn="ctr">
              <a:lnSpc>
                <a:spcPct val="100000"/>
              </a:lnSpc>
              <a:spcBef>
                <a:spcPts val="0"/>
              </a:spcBef>
              <a:spcAft>
                <a:spcPts val="0"/>
              </a:spcAft>
            </a:pPr>
            <a:r>
              <a:rPr sz="1400" b="0" i="0">
                <a:solidFill>
                  <a:srgbClr val="BFBFBF"/>
                </a:solidFill>
                <a:latin typeface="Segoe UI"/>
              </a:rPr>
              <a:t>Full end-to-end flow &amp; readiness polling — deep-dive reference.</a:t>
            </a:r>
          </a:p>
        </p:txBody>
      </p:sp>
      <p:sp>
        <p:nvSpPr>
          <p:cNvPr id="7" name="Rectangle 6"/>
          <p:cNvSpPr/>
          <p:nvPr/>
        </p:nvSpPr>
        <p:spPr>
          <a:xfrm>
            <a:off x="0" y="0"/>
            <a:ext cx="82296" cy="6858000"/>
          </a:xfrm>
          <a:prstGeom prst="rect">
            <a:avLst/>
          </a:prstGeom>
          <a:solidFill>
            <a:srgbClr val="1818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0"/>
            <a:ext cx="82296" cy="1828800"/>
          </a:xfrm>
          <a:prstGeom prst="rect">
            <a:avLst/>
          </a:prstGeom>
          <a:solidFill>
            <a:srgbClr val="52B0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382512"/>
            <a:ext cx="12191695" cy="475487"/>
          </a:xfrm>
          <a:prstGeom prst="rect">
            <a:avLst/>
          </a:prstGeom>
          <a:solidFill>
            <a:srgbClr val="0D0D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22960" y="6368796"/>
            <a:ext cx="10545775" cy="10972"/>
          </a:xfrm>
          <a:prstGeom prst="rect">
            <a:avLst/>
          </a:prstGeom>
          <a:solidFill>
            <a:srgbClr val="2A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6446520"/>
            <a:ext cx="8778240" cy="292608"/>
          </a:xfrm>
          <a:prstGeom prst="rect">
            <a:avLst/>
          </a:prstGeom>
          <a:noFill/>
        </p:spPr>
        <p:txBody>
          <a:bodyPr wrap="square" anchor="t" lIns="0" rIns="0" tIns="0" bIns="0">
            <a:spAutoFit/>
          </a:bodyPr>
          <a:lstStyle/>
          <a:p>
            <a:pPr>
              <a:lnSpc>
                <a:spcPct val="100000"/>
              </a:lnSpc>
              <a:spcBef>
                <a:spcPts val="0"/>
              </a:spcBef>
              <a:spcAft>
                <a:spcPts val="0"/>
              </a:spcAft>
            </a:pPr>
            <a:r>
              <a:rPr sz="950" b="0">
                <a:solidFill>
                  <a:srgbClr val="808080"/>
                </a:solidFill>
                <a:latin typeface="Segoe UI"/>
              </a:rPr>
              <a:t>Instantly Shareable Playtest  ·  XBOX Developer Demos  ·  Melanie Chen</a:t>
            </a:r>
          </a:p>
        </p:txBody>
      </p:sp>
      <p:sp>
        <p:nvSpPr>
          <p:cNvPr id="12" name="TextBox 11"/>
          <p:cNvSpPr txBox="1"/>
          <p:nvPr/>
        </p:nvSpPr>
        <p:spPr>
          <a:xfrm>
            <a:off x="10271455" y="6446520"/>
            <a:ext cx="1097280" cy="292608"/>
          </a:xfrm>
          <a:prstGeom prst="rect">
            <a:avLst/>
          </a:prstGeom>
          <a:noFill/>
        </p:spPr>
        <p:txBody>
          <a:bodyPr wrap="square" anchor="t" lIns="0" rIns="0" tIns="0" bIns="0">
            <a:spAutoFit/>
          </a:bodyPr>
          <a:lstStyle/>
          <a:p>
            <a:pPr algn="r">
              <a:lnSpc>
                <a:spcPct val="100000"/>
              </a:lnSpc>
              <a:spcBef>
                <a:spcPts val="0"/>
              </a:spcBef>
              <a:spcAft>
                <a:spcPts val="0"/>
              </a:spcAft>
            </a:pPr>
            <a:r>
              <a:rPr sz="950" b="0">
                <a:solidFill>
                  <a:srgbClr val="808080"/>
                </a:solidFill>
                <a:latin typeface="Segoe UI"/>
              </a:rPr>
              <a:t>11</a:t>
            </a:r>
          </a:p>
        </p:txBody>
      </p:sp>
      <p:sp>
        <p:nvSpPr>
          <p:cNvPr id="13" name="TextBox 12"/>
          <p:cNvSpPr txBox="1"/>
          <p:nvPr/>
        </p:nvSpPr>
        <p:spPr>
          <a:xfrm>
            <a:off x="5181447" y="6510528"/>
            <a:ext cx="1828800" cy="237744"/>
          </a:xfrm>
          <a:prstGeom prst="rect">
            <a:avLst/>
          </a:prstGeom>
          <a:noFill/>
        </p:spPr>
        <p:txBody>
          <a:bodyPr wrap="square" anchor="t" lIns="0" rIns="0" tIns="0" bIns="0">
            <a:spAutoFit/>
          </a:bodyPr>
          <a:lstStyle/>
          <a:p>
            <a:pPr algn="ctr">
              <a:lnSpc>
                <a:spcPct val="100000"/>
              </a:lnSpc>
              <a:spcBef>
                <a:spcPts val="0"/>
              </a:spcBef>
              <a:spcAft>
                <a:spcPts val="0"/>
              </a:spcAft>
            </a:pPr>
            <a:r>
              <a:rPr sz="950" b="0">
                <a:solidFill>
                  <a:srgbClr val="808080"/>
                </a:solidFill>
                <a:latin typeface="Segoe UI"/>
              </a:rPr>
              <a:t>APPENDIX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